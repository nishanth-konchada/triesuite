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65" r:id="rId2"/>
    <p:sldId id="266" r:id="rId3"/>
    <p:sldId id="270" r:id="rId4"/>
    <p:sldId id="271" r:id="rId5"/>
    <p:sldId id="273" r:id="rId6"/>
    <p:sldId id="272" r:id="rId7"/>
    <p:sldId id="274" r:id="rId8"/>
    <p:sldId id="275" r:id="rId9"/>
    <p:sldId id="276" r:id="rId10"/>
  </p:sldIdLst>
  <p:sldSz cx="14630400" cy="8229600"/>
  <p:notesSz cx="8229600" cy="14630400"/>
  <p:embeddedFontLst>
    <p:embeddedFont>
      <p:font typeface="Alice" panose="020B0604020202020204" charset="0"/>
      <p:regular r:id="rId12"/>
    </p:embeddedFont>
    <p:embeddedFont>
      <p:font typeface="Lora" pitchFamily="2"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6" autoAdjust="0"/>
    <p:restoredTop sz="94610"/>
  </p:normalViewPr>
  <p:slideViewPr>
    <p:cSldViewPr snapToGrid="0" snapToObjects="1">
      <p:cViewPr varScale="1">
        <p:scale>
          <a:sx n="74" d="100"/>
          <a:sy n="74" d="100"/>
        </p:scale>
        <p:origin x="44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844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dirty="0"/>
          </a:p>
        </p:txBody>
      </p:sp>
      <p:sp>
        <p:nvSpPr>
          <p:cNvPr id="3" name="Shape 1"/>
          <p:cNvSpPr/>
          <p:nvPr/>
        </p:nvSpPr>
        <p:spPr>
          <a:xfrm>
            <a:off x="0" y="0"/>
            <a:ext cx="14630400" cy="8229600"/>
          </a:xfrm>
          <a:prstGeom prst="rect">
            <a:avLst/>
          </a:prstGeom>
          <a:solidFill>
            <a:srgbClr val="FCFBF8"/>
          </a:solidFill>
          <a:ln/>
        </p:spPr>
        <p:txBody>
          <a:bodyPr/>
          <a:lstStyle/>
          <a:p>
            <a:endParaRPr lang="en-IN" dirty="0"/>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dirty="0"/>
          </a:p>
        </p:txBody>
      </p:sp>
      <p:sp>
        <p:nvSpPr>
          <p:cNvPr id="3" name="Shape 1"/>
          <p:cNvSpPr/>
          <p:nvPr/>
        </p:nvSpPr>
        <p:spPr>
          <a:xfrm>
            <a:off x="0" y="0"/>
            <a:ext cx="14630400" cy="8229600"/>
          </a:xfrm>
          <a:prstGeom prst="rect">
            <a:avLst/>
          </a:prstGeom>
          <a:solidFill>
            <a:srgbClr val="FCFBF8"/>
          </a:solidFill>
          <a:ln/>
        </p:spPr>
        <p:txBody>
          <a:bodyPr/>
          <a:lstStyle/>
          <a:p>
            <a:endParaRPr lang="en-IN" dirty="0"/>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dirty="0"/>
          </a:p>
        </p:txBody>
      </p:sp>
      <p:sp>
        <p:nvSpPr>
          <p:cNvPr id="3" name="Shape 1"/>
          <p:cNvSpPr/>
          <p:nvPr/>
        </p:nvSpPr>
        <p:spPr>
          <a:xfrm>
            <a:off x="0" y="0"/>
            <a:ext cx="14630400" cy="8229600"/>
          </a:xfrm>
          <a:prstGeom prst="rect">
            <a:avLst/>
          </a:prstGeom>
          <a:solidFill>
            <a:srgbClr val="FCFBF8"/>
          </a:solidFill>
          <a:ln/>
        </p:spPr>
        <p:txBody>
          <a:bodyPr/>
          <a:lstStyle/>
          <a:p>
            <a:endParaRPr lang="en-IN" dirty="0"/>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dirty="0"/>
          </a:p>
        </p:txBody>
      </p:sp>
      <p:sp>
        <p:nvSpPr>
          <p:cNvPr id="3" name="Shape 1"/>
          <p:cNvSpPr/>
          <p:nvPr/>
        </p:nvSpPr>
        <p:spPr>
          <a:xfrm>
            <a:off x="0" y="0"/>
            <a:ext cx="14630400" cy="8229600"/>
          </a:xfrm>
          <a:prstGeom prst="rect">
            <a:avLst/>
          </a:prstGeom>
          <a:solidFill>
            <a:srgbClr val="FCFBF8"/>
          </a:solidFill>
          <a:ln/>
        </p:spPr>
        <p:txBody>
          <a:bodyPr/>
          <a:lstStyle/>
          <a:p>
            <a:endParaRPr lang="en-IN" dirty="0"/>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dirty="0"/>
          </a:p>
        </p:txBody>
      </p:sp>
      <p:sp>
        <p:nvSpPr>
          <p:cNvPr id="3" name="Shape 1"/>
          <p:cNvSpPr/>
          <p:nvPr/>
        </p:nvSpPr>
        <p:spPr>
          <a:xfrm>
            <a:off x="0" y="0"/>
            <a:ext cx="14630400" cy="8229600"/>
          </a:xfrm>
          <a:prstGeom prst="rect">
            <a:avLst/>
          </a:prstGeom>
          <a:solidFill>
            <a:srgbClr val="FCFBF8"/>
          </a:solidFill>
          <a:ln/>
        </p:spPr>
        <p:txBody>
          <a:bodyPr/>
          <a:lstStyle/>
          <a:p>
            <a:endParaRPr lang="en-IN" dirty="0"/>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dirty="0"/>
          </a:p>
        </p:txBody>
      </p:sp>
      <p:sp>
        <p:nvSpPr>
          <p:cNvPr id="3" name="Shape 1"/>
          <p:cNvSpPr/>
          <p:nvPr/>
        </p:nvSpPr>
        <p:spPr>
          <a:xfrm>
            <a:off x="0" y="0"/>
            <a:ext cx="14630400" cy="8229600"/>
          </a:xfrm>
          <a:prstGeom prst="rect">
            <a:avLst/>
          </a:prstGeom>
          <a:solidFill>
            <a:srgbClr val="FCFBF8"/>
          </a:solidFill>
          <a:ln/>
        </p:spPr>
        <p:txBody>
          <a:bodyPr/>
          <a:lstStyle/>
          <a:p>
            <a:endParaRPr lang="en-IN" dirty="0"/>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dirty="0"/>
          </a:p>
        </p:txBody>
      </p:sp>
      <p:sp>
        <p:nvSpPr>
          <p:cNvPr id="3" name="Shape 1"/>
          <p:cNvSpPr/>
          <p:nvPr/>
        </p:nvSpPr>
        <p:spPr>
          <a:xfrm>
            <a:off x="0" y="0"/>
            <a:ext cx="14630400" cy="8229600"/>
          </a:xfrm>
          <a:prstGeom prst="rect">
            <a:avLst/>
          </a:prstGeom>
          <a:solidFill>
            <a:srgbClr val="FCFBF8"/>
          </a:solidFill>
          <a:ln/>
        </p:spPr>
        <p:txBody>
          <a:bodyPr/>
          <a:lstStyle/>
          <a:p>
            <a:endParaRPr lang="en-IN" dirty="0"/>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dirty="0"/>
          </a:p>
        </p:txBody>
      </p:sp>
      <p:sp>
        <p:nvSpPr>
          <p:cNvPr id="3" name="Shape 1"/>
          <p:cNvSpPr/>
          <p:nvPr/>
        </p:nvSpPr>
        <p:spPr>
          <a:xfrm>
            <a:off x="0" y="0"/>
            <a:ext cx="14630400" cy="8229600"/>
          </a:xfrm>
          <a:prstGeom prst="rect">
            <a:avLst/>
          </a:prstGeom>
          <a:solidFill>
            <a:srgbClr val="FCFBF8"/>
          </a:solidFill>
          <a:ln/>
        </p:spPr>
        <p:txBody>
          <a:bodyPr/>
          <a:lstStyle/>
          <a:p>
            <a:endParaRPr lang="en-IN" dirty="0"/>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dirty="0"/>
          </a:p>
        </p:txBody>
      </p:sp>
      <p:sp>
        <p:nvSpPr>
          <p:cNvPr id="3" name="Shape 1"/>
          <p:cNvSpPr/>
          <p:nvPr/>
        </p:nvSpPr>
        <p:spPr>
          <a:xfrm>
            <a:off x="0" y="0"/>
            <a:ext cx="14630400" cy="8229600"/>
          </a:xfrm>
          <a:prstGeom prst="rect">
            <a:avLst/>
          </a:prstGeom>
          <a:solidFill>
            <a:srgbClr val="FCFBF8"/>
          </a:solidFill>
          <a:ln/>
        </p:spPr>
        <p:txBody>
          <a:bodyPr/>
          <a:lstStyle/>
          <a:p>
            <a:endParaRPr lang="en-IN" dirty="0"/>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dirty="0"/>
          </a:p>
        </p:txBody>
      </p:sp>
      <p:sp>
        <p:nvSpPr>
          <p:cNvPr id="3" name="Shape 1"/>
          <p:cNvSpPr/>
          <p:nvPr/>
        </p:nvSpPr>
        <p:spPr>
          <a:xfrm>
            <a:off x="0" y="0"/>
            <a:ext cx="14630400" cy="8229600"/>
          </a:xfrm>
          <a:prstGeom prst="rect">
            <a:avLst/>
          </a:prstGeom>
          <a:solidFill>
            <a:srgbClr val="FCFBF8"/>
          </a:solidFill>
          <a:ln/>
        </p:spPr>
        <p:txBody>
          <a:bodyPr/>
          <a:lstStyle/>
          <a:p>
            <a:endParaRPr lang="en-IN" dirty="0"/>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51717B-B4B3-1F9A-8510-6A364513BFD9}"/>
              </a:ext>
            </a:extLst>
          </p:cNvPr>
          <p:cNvPicPr>
            <a:picLocks noChangeAspect="1"/>
          </p:cNvPicPr>
          <p:nvPr/>
        </p:nvPicPr>
        <p:blipFill>
          <a:blip r:embed="rId2"/>
          <a:stretch>
            <a:fillRect/>
          </a:stretch>
        </p:blipFill>
        <p:spPr>
          <a:xfrm>
            <a:off x="0" y="0"/>
            <a:ext cx="14630400" cy="8238694"/>
          </a:xfrm>
          <a:prstGeom prst="rect">
            <a:avLst/>
          </a:prstGeom>
        </p:spPr>
      </p:pic>
      <p:sp>
        <p:nvSpPr>
          <p:cNvPr id="4" name="TextBox 3">
            <a:extLst>
              <a:ext uri="{FF2B5EF4-FFF2-40B4-BE49-F238E27FC236}">
                <a16:creationId xmlns:a16="http://schemas.microsoft.com/office/drawing/2014/main" id="{7C6F88F1-416F-7A17-9210-80B39239965C}"/>
              </a:ext>
            </a:extLst>
          </p:cNvPr>
          <p:cNvSpPr txBox="1"/>
          <p:nvPr/>
        </p:nvSpPr>
        <p:spPr>
          <a:xfrm>
            <a:off x="2832409" y="858644"/>
            <a:ext cx="9266663" cy="1477328"/>
          </a:xfrm>
          <a:prstGeom prst="rect">
            <a:avLst/>
          </a:prstGeom>
          <a:noFill/>
        </p:spPr>
        <p:txBody>
          <a:bodyPr wrap="square" rtlCol="0">
            <a:spAutoFit/>
          </a:bodyPr>
          <a:lstStyle/>
          <a:p>
            <a:r>
              <a:rPr lang="en-US" sz="3600" dirty="0">
                <a:solidFill>
                  <a:srgbClr val="233E32"/>
                </a:solidFill>
                <a:latin typeface="Alice" pitchFamily="34" charset="0"/>
                <a:ea typeface="Alice" pitchFamily="34" charset="-122"/>
                <a:cs typeface="Alice" pitchFamily="34" charset="-120"/>
              </a:rPr>
              <a:t>OPTIMIZING STRING OPERATIONS USING </a:t>
            </a:r>
          </a:p>
          <a:p>
            <a:r>
              <a:rPr lang="en-US" sz="3600" dirty="0">
                <a:solidFill>
                  <a:srgbClr val="233E32"/>
                </a:solidFill>
                <a:latin typeface="Alice" pitchFamily="34" charset="0"/>
                <a:ea typeface="Alice" pitchFamily="34" charset="-122"/>
                <a:cs typeface="Alice" pitchFamily="34" charset="-120"/>
              </a:rPr>
              <a:t>             TRIE DATA STRUCTURE</a:t>
            </a:r>
            <a:endParaRPr lang="en-US" sz="3600" dirty="0"/>
          </a:p>
          <a:p>
            <a:endParaRPr lang="en-IN" dirty="0"/>
          </a:p>
        </p:txBody>
      </p:sp>
      <p:sp>
        <p:nvSpPr>
          <p:cNvPr id="5" name="TextBox 4">
            <a:extLst>
              <a:ext uri="{FF2B5EF4-FFF2-40B4-BE49-F238E27FC236}">
                <a16:creationId xmlns:a16="http://schemas.microsoft.com/office/drawing/2014/main" id="{5FA3AC04-88DD-B663-D619-AB4881A29692}"/>
              </a:ext>
            </a:extLst>
          </p:cNvPr>
          <p:cNvSpPr txBox="1"/>
          <p:nvPr/>
        </p:nvSpPr>
        <p:spPr>
          <a:xfrm>
            <a:off x="936702" y="2152187"/>
            <a:ext cx="9322419" cy="7909858"/>
          </a:xfrm>
          <a:prstGeom prst="rect">
            <a:avLst/>
          </a:prstGeom>
          <a:noFill/>
        </p:spPr>
        <p:txBody>
          <a:bodyPr wrap="square" rtlCol="0">
            <a:spAutoFit/>
          </a:bodyPr>
          <a:lstStyle/>
          <a:p>
            <a:r>
              <a:rPr lang="en-US" sz="2400" dirty="0">
                <a:solidFill>
                  <a:srgbClr val="233E32"/>
                </a:solidFill>
                <a:latin typeface="Alice" pitchFamily="34" charset="0"/>
                <a:ea typeface="Alice" pitchFamily="34" charset="-122"/>
                <a:cs typeface="Alice" pitchFamily="34" charset="-120"/>
              </a:rPr>
              <a:t>TEAM MEMBERS:</a:t>
            </a:r>
          </a:p>
          <a:p>
            <a:endParaRPr lang="en-US" sz="2400" dirty="0">
              <a:solidFill>
                <a:srgbClr val="233E32"/>
              </a:solidFill>
              <a:latin typeface="Alice" pitchFamily="34" charset="0"/>
              <a:ea typeface="Alice" pitchFamily="34" charset="-122"/>
              <a:cs typeface="Alice" pitchFamily="34" charset="-120"/>
            </a:endParaRPr>
          </a:p>
          <a:p>
            <a:r>
              <a:rPr lang="en-US" dirty="0">
                <a:solidFill>
                  <a:srgbClr val="2C2821"/>
                </a:solidFill>
                <a:latin typeface="Lora" pitchFamily="34" charset="0"/>
                <a:ea typeface="Lora" pitchFamily="34" charset="-122"/>
                <a:cs typeface="Lora" pitchFamily="34" charset="-120"/>
              </a:rPr>
              <a:t>              </a:t>
            </a:r>
            <a:r>
              <a:rPr lang="en-US" sz="2000" dirty="0">
                <a:solidFill>
                  <a:srgbClr val="2C2821"/>
                </a:solidFill>
                <a:latin typeface="Lora" pitchFamily="34" charset="0"/>
                <a:ea typeface="Lora" pitchFamily="34" charset="-122"/>
                <a:cs typeface="Lora" pitchFamily="34" charset="-120"/>
              </a:rPr>
              <a:t>M.MOUNIK SAI-(CB.SC.U4CSE23561)</a:t>
            </a:r>
          </a:p>
          <a:p>
            <a:endParaRPr lang="en-US" sz="2000" dirty="0">
              <a:solidFill>
                <a:srgbClr val="2C2821"/>
              </a:solidFill>
              <a:latin typeface="Lora" pitchFamily="34" charset="0"/>
              <a:ea typeface="Lora" pitchFamily="34" charset="-122"/>
              <a:cs typeface="Lora" pitchFamily="34" charset="-120"/>
            </a:endParaRPr>
          </a:p>
          <a:p>
            <a:r>
              <a:rPr lang="en-US" sz="2000" dirty="0">
                <a:solidFill>
                  <a:srgbClr val="2C2821"/>
                </a:solidFill>
                <a:latin typeface="Lora" pitchFamily="34" charset="0"/>
                <a:ea typeface="Lora" pitchFamily="34" charset="-122"/>
                <a:cs typeface="Lora" pitchFamily="34" charset="-120"/>
              </a:rPr>
              <a:t>              J.ABHINAV SAI-(CB.SC.U4CSE23563)</a:t>
            </a:r>
          </a:p>
          <a:p>
            <a:endParaRPr lang="en-US" sz="2000" dirty="0">
              <a:solidFill>
                <a:srgbClr val="2C2821"/>
              </a:solidFill>
              <a:latin typeface="Lora" pitchFamily="34" charset="0"/>
              <a:ea typeface="Lora" pitchFamily="34" charset="-122"/>
              <a:cs typeface="Lora" pitchFamily="34" charset="-120"/>
            </a:endParaRPr>
          </a:p>
          <a:p>
            <a:r>
              <a:rPr lang="en-US" sz="2000" dirty="0">
                <a:solidFill>
                  <a:srgbClr val="2C2821"/>
                </a:solidFill>
                <a:latin typeface="Lora" pitchFamily="34" charset="0"/>
                <a:ea typeface="Lora" pitchFamily="34" charset="-122"/>
                <a:cs typeface="Lora" pitchFamily="34" charset="-120"/>
              </a:rPr>
              <a:t>              K.NISHANTH-(CB.SC.U4CSE23523)</a:t>
            </a:r>
          </a:p>
          <a:p>
            <a:endParaRPr lang="en-US" sz="2000" dirty="0">
              <a:solidFill>
                <a:srgbClr val="2C2821"/>
              </a:solidFill>
              <a:latin typeface="Lora" pitchFamily="34" charset="0"/>
              <a:ea typeface="Lora" pitchFamily="34" charset="-122"/>
              <a:cs typeface="Lora" pitchFamily="34" charset="-120"/>
            </a:endParaRPr>
          </a:p>
          <a:p>
            <a:r>
              <a:rPr lang="en-US" sz="2000" dirty="0">
                <a:solidFill>
                  <a:srgbClr val="2C2821"/>
                </a:solidFill>
                <a:latin typeface="Lora" pitchFamily="34" charset="0"/>
                <a:ea typeface="Lora" pitchFamily="34" charset="-122"/>
                <a:cs typeface="Lora" pitchFamily="34" charset="-120"/>
              </a:rPr>
              <a:t>              N.MITHILESH-(CB.SC.U4CSE23564)</a:t>
            </a:r>
          </a:p>
          <a:p>
            <a:endParaRPr lang="en-US" sz="2000" dirty="0">
              <a:solidFill>
                <a:srgbClr val="2C2821"/>
              </a:solidFill>
              <a:latin typeface="Lora" pitchFamily="34" charset="0"/>
              <a:ea typeface="Lora" pitchFamily="34" charset="-122"/>
              <a:cs typeface="Lora" pitchFamily="34" charset="-120"/>
            </a:endParaRPr>
          </a:p>
          <a:p>
            <a:r>
              <a:rPr lang="en-US" sz="2000" dirty="0">
                <a:solidFill>
                  <a:srgbClr val="2C2821"/>
                </a:solidFill>
                <a:latin typeface="Lora" pitchFamily="34" charset="0"/>
                <a:ea typeface="Lora" pitchFamily="34" charset="-122"/>
                <a:cs typeface="Lora" pitchFamily="34" charset="-120"/>
              </a:rPr>
              <a:t>              K.SATWIQ -(CB.SC.U4CSE23521)</a:t>
            </a:r>
          </a:p>
          <a:p>
            <a:endParaRPr lang="en-US" sz="2000" dirty="0">
              <a:solidFill>
                <a:srgbClr val="2C2821"/>
              </a:solidFill>
              <a:latin typeface="Lora" pitchFamily="34" charset="0"/>
              <a:ea typeface="Lora" pitchFamily="34" charset="-122"/>
              <a:cs typeface="Lora" pitchFamily="34" charset="-120"/>
            </a:endParaRPr>
          </a:p>
          <a:p>
            <a:r>
              <a:rPr lang="en-US" sz="2000" dirty="0">
                <a:solidFill>
                  <a:srgbClr val="2C2821"/>
                </a:solidFill>
                <a:latin typeface="Lora" pitchFamily="34" charset="0"/>
                <a:ea typeface="Lora" pitchFamily="34" charset="-122"/>
                <a:cs typeface="Lora" pitchFamily="34" charset="-120"/>
              </a:rPr>
              <a:t>              SAI VENKAT-(CB.SC.U4CSE23543)</a:t>
            </a:r>
          </a:p>
          <a:p>
            <a:endParaRPr lang="en-US" dirty="0">
              <a:solidFill>
                <a:srgbClr val="2C2821"/>
              </a:solidFill>
              <a:latin typeface="Lora" pitchFamily="34" charset="0"/>
            </a:endParaRPr>
          </a:p>
          <a:p>
            <a:r>
              <a:rPr lang="en-US" sz="2400" dirty="0">
                <a:solidFill>
                  <a:srgbClr val="233E32"/>
                </a:solidFill>
                <a:latin typeface="Alice" pitchFamily="34" charset="0"/>
                <a:ea typeface="Alice" pitchFamily="34" charset="-122"/>
                <a:cs typeface="Alice" pitchFamily="34" charset="-120"/>
              </a:rPr>
              <a:t>TEAM NUMBER:   F2</a:t>
            </a:r>
          </a:p>
          <a:p>
            <a:r>
              <a:rPr lang="en-US" sz="2400" dirty="0">
                <a:solidFill>
                  <a:srgbClr val="233E32"/>
                </a:solidFill>
                <a:latin typeface="Alice" pitchFamily="34" charset="0"/>
                <a:ea typeface="Alice" pitchFamily="34" charset="-122"/>
                <a:cs typeface="Alice" pitchFamily="34" charset="-120"/>
              </a:rPr>
              <a:t>                 </a:t>
            </a:r>
          </a:p>
          <a:p>
            <a:endParaRPr lang="en-US" dirty="0"/>
          </a:p>
          <a:p>
            <a:endParaRPr lang="en-US" dirty="0"/>
          </a:p>
          <a:p>
            <a:endParaRPr lang="en-US" dirty="0"/>
          </a:p>
          <a:p>
            <a:endParaRPr lang="en-US" dirty="0"/>
          </a:p>
          <a:p>
            <a:endParaRPr lang="en-US" dirty="0"/>
          </a:p>
          <a:p>
            <a:endParaRPr lang="en-US" dirty="0"/>
          </a:p>
          <a:p>
            <a:endParaRPr lang="en-US" sz="2400" dirty="0">
              <a:solidFill>
                <a:srgbClr val="233E32"/>
              </a:solidFill>
              <a:latin typeface="Alice" pitchFamily="34" charset="0"/>
              <a:ea typeface="Alice" pitchFamily="34" charset="-122"/>
              <a:cs typeface="Alice" pitchFamily="34" charset="-120"/>
            </a:endParaRPr>
          </a:p>
          <a:p>
            <a:endParaRPr lang="en-US" sz="2400" dirty="0"/>
          </a:p>
          <a:p>
            <a:endParaRPr lang="en-IN" dirty="0"/>
          </a:p>
        </p:txBody>
      </p:sp>
    </p:spTree>
    <p:extLst>
      <p:ext uri="{BB962C8B-B14F-4D97-AF65-F5344CB8AC3E}">
        <p14:creationId xmlns:p14="http://schemas.microsoft.com/office/powerpoint/2010/main" val="311510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48AF7-2E74-E8FB-1D45-5377DDC614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4F0936-A8BE-6EBC-C493-E243598319AE}"/>
              </a:ext>
            </a:extLst>
          </p:cNvPr>
          <p:cNvPicPr>
            <a:picLocks noChangeAspect="1"/>
          </p:cNvPicPr>
          <p:nvPr/>
        </p:nvPicPr>
        <p:blipFill>
          <a:blip r:embed="rId2"/>
          <a:stretch>
            <a:fillRect/>
          </a:stretch>
        </p:blipFill>
        <p:spPr>
          <a:xfrm>
            <a:off x="0" y="0"/>
            <a:ext cx="14630400" cy="8238694"/>
          </a:xfrm>
          <a:prstGeom prst="rect">
            <a:avLst/>
          </a:prstGeom>
        </p:spPr>
      </p:pic>
      <p:sp>
        <p:nvSpPr>
          <p:cNvPr id="4" name="TextBox 3">
            <a:extLst>
              <a:ext uri="{FF2B5EF4-FFF2-40B4-BE49-F238E27FC236}">
                <a16:creationId xmlns:a16="http://schemas.microsoft.com/office/drawing/2014/main" id="{CCD9A4AF-C181-4DEF-38CC-1611E9FDBC6D}"/>
              </a:ext>
            </a:extLst>
          </p:cNvPr>
          <p:cNvSpPr txBox="1"/>
          <p:nvPr/>
        </p:nvSpPr>
        <p:spPr>
          <a:xfrm>
            <a:off x="1037063" y="1108914"/>
            <a:ext cx="13593337" cy="1077218"/>
          </a:xfrm>
          <a:prstGeom prst="rect">
            <a:avLst/>
          </a:prstGeom>
          <a:noFill/>
        </p:spPr>
        <p:txBody>
          <a:bodyPr wrap="square" rtlCol="0">
            <a:spAutoFit/>
          </a:bodyPr>
          <a:lstStyle/>
          <a:p>
            <a:r>
              <a:rPr lang="en-US" sz="3200" dirty="0">
                <a:solidFill>
                  <a:srgbClr val="233E32"/>
                </a:solidFill>
                <a:latin typeface="Alice" pitchFamily="34" charset="0"/>
                <a:ea typeface="Alice" pitchFamily="34" charset="-122"/>
                <a:cs typeface="Alice" pitchFamily="34" charset="-120"/>
              </a:rPr>
              <a:t>Designing an Advanced Trie Data Structure for Efficient Data Storage, Retrieval, and DNA Pattern Matching in Text and Networking</a:t>
            </a:r>
            <a:endParaRPr lang="en-IN" dirty="0"/>
          </a:p>
        </p:txBody>
      </p:sp>
      <p:sp>
        <p:nvSpPr>
          <p:cNvPr id="5" name="TextBox 4">
            <a:extLst>
              <a:ext uri="{FF2B5EF4-FFF2-40B4-BE49-F238E27FC236}">
                <a16:creationId xmlns:a16="http://schemas.microsoft.com/office/drawing/2014/main" id="{300BDD9F-6AAC-D0D5-8718-69C3FB24B333}"/>
              </a:ext>
            </a:extLst>
          </p:cNvPr>
          <p:cNvSpPr txBox="1"/>
          <p:nvPr/>
        </p:nvSpPr>
        <p:spPr>
          <a:xfrm>
            <a:off x="1037063" y="2560971"/>
            <a:ext cx="9222059" cy="2831544"/>
          </a:xfrm>
          <a:prstGeom prst="rect">
            <a:avLst/>
          </a:prstGeom>
          <a:noFill/>
        </p:spPr>
        <p:txBody>
          <a:bodyPr wrap="square" rtlCol="0">
            <a:spAutoFit/>
          </a:bodyPr>
          <a:lstStyle/>
          <a:p>
            <a:r>
              <a:rPr lang="en-US" sz="2000" dirty="0">
                <a:solidFill>
                  <a:srgbClr val="2C2821"/>
                </a:solidFill>
                <a:latin typeface="Lora" pitchFamily="34" charset="0"/>
                <a:ea typeface="Alice" pitchFamily="34" charset="-122"/>
                <a:cs typeface="Alice" pitchFamily="34" charset="-120"/>
              </a:rPr>
              <a:t>&gt; </a:t>
            </a:r>
            <a:r>
              <a:rPr lang="en-US" sz="2000" dirty="0">
                <a:solidFill>
                  <a:srgbClr val="2C2821"/>
                </a:solidFill>
                <a:latin typeface="Lora" pitchFamily="2" charset="0"/>
                <a:ea typeface="Alice" pitchFamily="34" charset="-122"/>
                <a:cs typeface="Alice" pitchFamily="34" charset="-120"/>
              </a:rPr>
              <a:t>Provide Autocomplete Suggestions</a:t>
            </a:r>
          </a:p>
          <a:p>
            <a:endParaRPr lang="en-US" sz="2000" dirty="0">
              <a:solidFill>
                <a:srgbClr val="2C2821"/>
              </a:solidFill>
              <a:latin typeface="Lora" pitchFamily="2" charset="0"/>
              <a:ea typeface="Alice" pitchFamily="34" charset="-122"/>
              <a:cs typeface="Alice" pitchFamily="34" charset="-120"/>
            </a:endParaRPr>
          </a:p>
          <a:p>
            <a:r>
              <a:rPr lang="en-US" sz="2000" dirty="0">
                <a:solidFill>
                  <a:srgbClr val="2C2821"/>
                </a:solidFill>
                <a:latin typeface="Lora" pitchFamily="2" charset="0"/>
                <a:ea typeface="Alice" pitchFamily="34" charset="-122"/>
                <a:cs typeface="Alice" pitchFamily="34" charset="-120"/>
              </a:rPr>
              <a:t>&gt; Enhancing DNA Sequence Matching</a:t>
            </a:r>
            <a:r>
              <a:rPr lang="en-US" sz="2000" dirty="0">
                <a:solidFill>
                  <a:srgbClr val="233E32"/>
                </a:solidFill>
                <a:latin typeface="Lora" pitchFamily="2" charset="0"/>
                <a:ea typeface="Alice" pitchFamily="34" charset="-122"/>
                <a:cs typeface="Alice" pitchFamily="34" charset="-120"/>
              </a:rPr>
              <a:t> </a:t>
            </a:r>
          </a:p>
          <a:p>
            <a:endParaRPr lang="en-US" sz="2000" dirty="0">
              <a:solidFill>
                <a:srgbClr val="233E32"/>
              </a:solidFill>
              <a:latin typeface="Lora" pitchFamily="2" charset="0"/>
              <a:ea typeface="Alice" pitchFamily="34" charset="-122"/>
              <a:cs typeface="Alice" pitchFamily="34" charset="-120"/>
            </a:endParaRPr>
          </a:p>
          <a:p>
            <a:r>
              <a:rPr lang="en-US" sz="2000" dirty="0">
                <a:solidFill>
                  <a:srgbClr val="233E32"/>
                </a:solidFill>
                <a:latin typeface="Lora" pitchFamily="2" charset="0"/>
                <a:ea typeface="Alice" pitchFamily="34" charset="-122"/>
                <a:cs typeface="Alice" pitchFamily="34" charset="-120"/>
              </a:rPr>
              <a:t>&gt; Support URL/IP Address Matching &amp; Longest Prefix</a:t>
            </a:r>
          </a:p>
          <a:p>
            <a:endParaRPr lang="en-US" sz="2000" dirty="0">
              <a:solidFill>
                <a:srgbClr val="233E32"/>
              </a:solidFill>
              <a:latin typeface="Lora" pitchFamily="2" charset="0"/>
              <a:ea typeface="Alice" pitchFamily="34" charset="-122"/>
              <a:cs typeface="Alice" pitchFamily="34" charset="-120"/>
            </a:endParaRPr>
          </a:p>
          <a:p>
            <a:r>
              <a:rPr lang="en-US" sz="2000" dirty="0">
                <a:solidFill>
                  <a:srgbClr val="233E32"/>
                </a:solidFill>
                <a:latin typeface="Lora" pitchFamily="2" charset="0"/>
                <a:ea typeface="Alice" pitchFamily="34" charset="-122"/>
                <a:cs typeface="Alice" pitchFamily="34" charset="-120"/>
              </a:rPr>
              <a:t>&gt; Enable Pattern Matching</a:t>
            </a:r>
          </a:p>
          <a:p>
            <a:endParaRPr lang="en-US" sz="2000" dirty="0">
              <a:solidFill>
                <a:srgbClr val="233E32"/>
              </a:solidFill>
              <a:latin typeface="Lora" pitchFamily="2" charset="0"/>
              <a:ea typeface="Alice" pitchFamily="34" charset="-122"/>
              <a:cs typeface="Alice" pitchFamily="34" charset="-120"/>
            </a:endParaRPr>
          </a:p>
          <a:p>
            <a:endParaRPr lang="en-IN" dirty="0"/>
          </a:p>
        </p:txBody>
      </p:sp>
      <p:sp>
        <p:nvSpPr>
          <p:cNvPr id="2" name="TextBox 1">
            <a:extLst>
              <a:ext uri="{FF2B5EF4-FFF2-40B4-BE49-F238E27FC236}">
                <a16:creationId xmlns:a16="http://schemas.microsoft.com/office/drawing/2014/main" id="{43A46C4D-100A-3D6B-459B-76CBA5AD8222}"/>
              </a:ext>
            </a:extLst>
          </p:cNvPr>
          <p:cNvSpPr txBox="1"/>
          <p:nvPr/>
        </p:nvSpPr>
        <p:spPr>
          <a:xfrm>
            <a:off x="381964" y="405113"/>
            <a:ext cx="5856790" cy="523220"/>
          </a:xfrm>
          <a:prstGeom prst="rect">
            <a:avLst/>
          </a:prstGeom>
          <a:noFill/>
        </p:spPr>
        <p:txBody>
          <a:bodyPr wrap="square" rtlCol="0">
            <a:spAutoFit/>
          </a:bodyPr>
          <a:lstStyle/>
          <a:p>
            <a:r>
              <a:rPr lang="en-IN" sz="2800" b="1" dirty="0">
                <a:latin typeface="Alice" panose="020B0604020202020204" charset="0"/>
                <a:ea typeface="Alice" panose="020B0604020202020204" charset="0"/>
              </a:rPr>
              <a:t>TITLE/PROBLEM STATEMENT:</a:t>
            </a:r>
          </a:p>
        </p:txBody>
      </p:sp>
      <p:sp>
        <p:nvSpPr>
          <p:cNvPr id="6" name="TextBox 5">
            <a:extLst>
              <a:ext uri="{FF2B5EF4-FFF2-40B4-BE49-F238E27FC236}">
                <a16:creationId xmlns:a16="http://schemas.microsoft.com/office/drawing/2014/main" id="{2738E4C9-69A1-821C-10EF-CF9BC7C7E6ED}"/>
              </a:ext>
            </a:extLst>
          </p:cNvPr>
          <p:cNvSpPr txBox="1"/>
          <p:nvPr/>
        </p:nvSpPr>
        <p:spPr>
          <a:xfrm>
            <a:off x="8819909" y="2186132"/>
            <a:ext cx="5521124" cy="2739211"/>
          </a:xfrm>
          <a:prstGeom prst="rect">
            <a:avLst/>
          </a:prstGeom>
          <a:noFill/>
        </p:spPr>
        <p:txBody>
          <a:bodyPr wrap="square" rtlCol="0">
            <a:spAutoFit/>
          </a:bodyPr>
          <a:lstStyle/>
          <a:p>
            <a:endParaRPr lang="en-US" sz="2000" dirty="0">
              <a:solidFill>
                <a:srgbClr val="233E32"/>
              </a:solidFill>
              <a:latin typeface="Lora" pitchFamily="2" charset="0"/>
              <a:ea typeface="Alice" pitchFamily="34" charset="-122"/>
              <a:cs typeface="Alice" pitchFamily="34" charset="-120"/>
            </a:endParaRPr>
          </a:p>
          <a:p>
            <a:r>
              <a:rPr lang="en-US" sz="2400" b="1" dirty="0">
                <a:solidFill>
                  <a:srgbClr val="233E32"/>
                </a:solidFill>
                <a:latin typeface="Lora" pitchFamily="2" charset="0"/>
                <a:ea typeface="Alice" pitchFamily="34" charset="-122"/>
                <a:cs typeface="Alice" pitchFamily="34" charset="-120"/>
              </a:rPr>
              <a:t>CHALLENGES</a:t>
            </a:r>
            <a:r>
              <a:rPr lang="en-US" sz="2000" b="1" dirty="0">
                <a:solidFill>
                  <a:srgbClr val="233E32"/>
                </a:solidFill>
                <a:latin typeface="Lora" pitchFamily="2" charset="0"/>
                <a:ea typeface="Alice" pitchFamily="34" charset="-122"/>
                <a:cs typeface="Alice" pitchFamily="34" charset="-120"/>
              </a:rPr>
              <a:t>: </a:t>
            </a:r>
          </a:p>
          <a:p>
            <a:endParaRPr lang="en-US" sz="2000" dirty="0">
              <a:solidFill>
                <a:srgbClr val="233E32"/>
              </a:solidFill>
              <a:latin typeface="Lora" pitchFamily="2" charset="0"/>
              <a:ea typeface="Alice" pitchFamily="34" charset="-122"/>
              <a:cs typeface="Alice" pitchFamily="34" charset="-120"/>
            </a:endParaRPr>
          </a:p>
          <a:p>
            <a:r>
              <a:rPr lang="en-US" dirty="0">
                <a:solidFill>
                  <a:srgbClr val="233E32"/>
                </a:solidFill>
                <a:latin typeface="Lora" pitchFamily="2" charset="0"/>
                <a:ea typeface="Alice" pitchFamily="34" charset="-122"/>
                <a:cs typeface="Alice" pitchFamily="34" charset="-120"/>
              </a:rPr>
              <a:t>&gt; Memory management</a:t>
            </a:r>
          </a:p>
          <a:p>
            <a:endParaRPr lang="en-US" dirty="0">
              <a:solidFill>
                <a:srgbClr val="233E32"/>
              </a:solidFill>
              <a:latin typeface="Lora" pitchFamily="2" charset="0"/>
              <a:ea typeface="Alice" pitchFamily="34" charset="-122"/>
              <a:cs typeface="Alice" pitchFamily="34" charset="-120"/>
            </a:endParaRPr>
          </a:p>
          <a:p>
            <a:r>
              <a:rPr lang="en-US" dirty="0">
                <a:solidFill>
                  <a:srgbClr val="233E32"/>
                </a:solidFill>
                <a:latin typeface="Lora" pitchFamily="2" charset="0"/>
                <a:ea typeface="Alice" pitchFamily="34" charset="-122"/>
                <a:cs typeface="Alice" pitchFamily="34" charset="-120"/>
              </a:rPr>
              <a:t>&gt; Pattern Backtracking</a:t>
            </a:r>
          </a:p>
          <a:p>
            <a:endParaRPr lang="en-US" dirty="0">
              <a:solidFill>
                <a:srgbClr val="233E32"/>
              </a:solidFill>
              <a:latin typeface="Lora" pitchFamily="2" charset="0"/>
              <a:ea typeface="Alice" pitchFamily="34" charset="-122"/>
              <a:cs typeface="Alice" pitchFamily="34" charset="-120"/>
            </a:endParaRPr>
          </a:p>
          <a:p>
            <a:r>
              <a:rPr lang="en-US" dirty="0">
                <a:solidFill>
                  <a:srgbClr val="233E32"/>
                </a:solidFill>
                <a:latin typeface="Lora" pitchFamily="2" charset="0"/>
                <a:ea typeface="Alice" pitchFamily="34" charset="-122"/>
                <a:cs typeface="Alice" pitchFamily="34" charset="-120"/>
              </a:rPr>
              <a:t>&gt; Handling Large Databases</a:t>
            </a:r>
            <a:endParaRPr lang="en-US" sz="2400" dirty="0"/>
          </a:p>
          <a:p>
            <a:endParaRPr lang="en-IN" dirty="0"/>
          </a:p>
        </p:txBody>
      </p:sp>
      <p:sp>
        <p:nvSpPr>
          <p:cNvPr id="8" name="TextBox 7">
            <a:extLst>
              <a:ext uri="{FF2B5EF4-FFF2-40B4-BE49-F238E27FC236}">
                <a16:creationId xmlns:a16="http://schemas.microsoft.com/office/drawing/2014/main" id="{4B9CEC68-E410-C906-DD74-0DC1EB3EA543}"/>
              </a:ext>
            </a:extLst>
          </p:cNvPr>
          <p:cNvSpPr txBox="1"/>
          <p:nvPr/>
        </p:nvSpPr>
        <p:spPr>
          <a:xfrm>
            <a:off x="261559" y="4925343"/>
            <a:ext cx="14368841" cy="2893100"/>
          </a:xfrm>
          <a:prstGeom prst="rect">
            <a:avLst/>
          </a:prstGeom>
          <a:noFill/>
        </p:spPr>
        <p:txBody>
          <a:bodyPr wrap="square" rtlCol="0">
            <a:spAutoFit/>
          </a:bodyPr>
          <a:lstStyle/>
          <a:p>
            <a:r>
              <a:rPr lang="en-US" sz="2800" b="1" dirty="0">
                <a:solidFill>
                  <a:srgbClr val="233E32"/>
                </a:solidFill>
                <a:latin typeface="Alice" panose="020B0604020202020204" charset="0"/>
                <a:ea typeface="Alice" panose="020B0604020202020204" charset="0"/>
                <a:cs typeface="Alice" pitchFamily="34" charset="-120"/>
              </a:rPr>
              <a:t>MOTIVATION BEHIND THE PROBLEM STATEMENT</a:t>
            </a:r>
          </a:p>
          <a:p>
            <a:endParaRPr lang="en-US" sz="2800" b="1" dirty="0">
              <a:solidFill>
                <a:srgbClr val="233E32"/>
              </a:solidFill>
              <a:latin typeface="Alice" panose="020B0604020202020204" charset="0"/>
              <a:ea typeface="Alice" panose="020B0604020202020204" charset="0"/>
            </a:endParaRPr>
          </a:p>
          <a:p>
            <a:r>
              <a:rPr kumimoji="0" lang="en-US" altLang="en-US" sz="2000" b="1" i="0" u="none" strike="noStrike" cap="none" normalizeH="0" baseline="0" dirty="0">
                <a:ln>
                  <a:noFill/>
                </a:ln>
                <a:solidFill>
                  <a:schemeClr val="tx1"/>
                </a:solidFill>
                <a:effectLst/>
                <a:latin typeface="Lora" pitchFamily="2" charset="0"/>
              </a:rPr>
              <a:t>Real-World Demand: </a:t>
            </a:r>
            <a:r>
              <a:rPr kumimoji="0" lang="en-US" altLang="en-US" sz="2000" b="0" i="0" u="none" strike="noStrike" cap="none" normalizeH="0" baseline="0" dirty="0">
                <a:ln>
                  <a:noFill/>
                </a:ln>
                <a:solidFill>
                  <a:schemeClr val="tx1"/>
                </a:solidFill>
                <a:effectLst/>
                <a:latin typeface="Lora" pitchFamily="2" charset="0"/>
              </a:rPr>
              <a:t>The need for instant data access in applications like:</a:t>
            </a:r>
          </a:p>
          <a:p>
            <a:r>
              <a:rPr lang="en-US" altLang="en-US" sz="2000" dirty="0">
                <a:latin typeface="Lora" pitchFamily="2" charset="0"/>
              </a:rPr>
              <a:t>                                                 </a:t>
            </a:r>
            <a:r>
              <a:rPr kumimoji="0" lang="en-US" altLang="en-US" sz="2000" b="0" i="0" u="none" strike="noStrike" cap="none" normalizeH="0" baseline="0" dirty="0">
                <a:ln>
                  <a:noFill/>
                </a:ln>
                <a:solidFill>
                  <a:schemeClr val="tx1"/>
                </a:solidFill>
                <a:effectLst/>
                <a:latin typeface="Lora" pitchFamily="2" charset="0"/>
              </a:rPr>
              <a:t>Search engines and dictionaries (text suggestions).</a:t>
            </a:r>
          </a:p>
          <a:p>
            <a:r>
              <a:rPr kumimoji="0" lang="en-US" altLang="en-US" sz="2000" b="0" i="0" u="none" strike="noStrike" cap="none" normalizeH="0" baseline="0" dirty="0">
                <a:ln>
                  <a:noFill/>
                </a:ln>
                <a:solidFill>
                  <a:schemeClr val="tx1"/>
                </a:solidFill>
                <a:effectLst/>
                <a:latin typeface="Lora" pitchFamily="2" charset="0"/>
              </a:rPr>
              <a:t>                                                 Network routing and firewall systems (IP routing).</a:t>
            </a:r>
          </a:p>
          <a:p>
            <a:r>
              <a:rPr kumimoji="0" lang="en-US" altLang="en-US" sz="2000" b="0" i="0" u="none" strike="noStrike" cap="none" normalizeH="0" baseline="0" dirty="0">
                <a:ln>
                  <a:noFill/>
                </a:ln>
                <a:solidFill>
                  <a:schemeClr val="tx1"/>
                </a:solidFill>
                <a:effectLst/>
                <a:latin typeface="Lora" pitchFamily="2" charset="0"/>
              </a:rPr>
              <a:t>                                                 Bioinformatics and content filtering (multi-pattern matching).</a:t>
            </a:r>
          </a:p>
          <a:p>
            <a:endParaRPr lang="en-IN" sz="2800" b="1" dirty="0">
              <a:latin typeface="Alice" panose="020B0604020202020204" charset="0"/>
              <a:ea typeface="Alice" panose="020B0604020202020204" charset="0"/>
            </a:endParaRPr>
          </a:p>
          <a:p>
            <a:endParaRPr lang="en-IN" dirty="0"/>
          </a:p>
        </p:txBody>
      </p:sp>
    </p:spTree>
    <p:extLst>
      <p:ext uri="{BB962C8B-B14F-4D97-AF65-F5344CB8AC3E}">
        <p14:creationId xmlns:p14="http://schemas.microsoft.com/office/powerpoint/2010/main" val="334298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19F48-96B8-ECDE-9147-B47B7DCBCF0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3587E83-D7EE-D5C0-C142-1C67FB5AE6EC}"/>
              </a:ext>
            </a:extLst>
          </p:cNvPr>
          <p:cNvPicPr>
            <a:picLocks noChangeAspect="1"/>
          </p:cNvPicPr>
          <p:nvPr/>
        </p:nvPicPr>
        <p:blipFill>
          <a:blip r:embed="rId2"/>
          <a:stretch>
            <a:fillRect/>
          </a:stretch>
        </p:blipFill>
        <p:spPr>
          <a:xfrm>
            <a:off x="0" y="0"/>
            <a:ext cx="14630400" cy="8238694"/>
          </a:xfrm>
          <a:prstGeom prst="rect">
            <a:avLst/>
          </a:prstGeom>
        </p:spPr>
      </p:pic>
      <p:sp>
        <p:nvSpPr>
          <p:cNvPr id="4" name="TextBox 3">
            <a:extLst>
              <a:ext uri="{FF2B5EF4-FFF2-40B4-BE49-F238E27FC236}">
                <a16:creationId xmlns:a16="http://schemas.microsoft.com/office/drawing/2014/main" id="{36F3D8DB-B3B6-A73A-01C6-2791A922F80B}"/>
              </a:ext>
            </a:extLst>
          </p:cNvPr>
          <p:cNvSpPr txBox="1"/>
          <p:nvPr/>
        </p:nvSpPr>
        <p:spPr>
          <a:xfrm>
            <a:off x="546409" y="608109"/>
            <a:ext cx="13593337" cy="584775"/>
          </a:xfrm>
          <a:prstGeom prst="rect">
            <a:avLst/>
          </a:prstGeom>
          <a:noFill/>
        </p:spPr>
        <p:txBody>
          <a:bodyPr wrap="square" rtlCol="0">
            <a:spAutoFit/>
          </a:bodyPr>
          <a:lstStyle/>
          <a:p>
            <a:r>
              <a:rPr lang="en-US" sz="3200" dirty="0">
                <a:solidFill>
                  <a:srgbClr val="233E32"/>
                </a:solidFill>
                <a:latin typeface="Alice" pitchFamily="34" charset="0"/>
                <a:ea typeface="Alice" pitchFamily="34" charset="-122"/>
                <a:cs typeface="Alice" pitchFamily="34" charset="-120"/>
              </a:rPr>
              <a:t>THE TRIE DATA STRUCTURE *A NEGLECTED GEM*:</a:t>
            </a:r>
            <a:endParaRPr lang="en-IN" sz="3200" dirty="0"/>
          </a:p>
        </p:txBody>
      </p:sp>
      <p:sp>
        <p:nvSpPr>
          <p:cNvPr id="10" name="Rectangle 5">
            <a:extLst>
              <a:ext uri="{FF2B5EF4-FFF2-40B4-BE49-F238E27FC236}">
                <a16:creationId xmlns:a16="http://schemas.microsoft.com/office/drawing/2014/main" id="{93AF5DED-07FC-375E-E31B-7A7FF6AB245E}"/>
              </a:ext>
            </a:extLst>
          </p:cNvPr>
          <p:cNvSpPr>
            <a:spLocks noChangeArrowheads="1"/>
          </p:cNvSpPr>
          <p:nvPr/>
        </p:nvSpPr>
        <p:spPr bwMode="auto">
          <a:xfrm>
            <a:off x="947853" y="1943855"/>
            <a:ext cx="97238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Lora" pitchFamily="2" charset="0"/>
            </a:endParaRPr>
          </a:p>
        </p:txBody>
      </p:sp>
      <p:pic>
        <p:nvPicPr>
          <p:cNvPr id="7" name="Picture 6">
            <a:extLst>
              <a:ext uri="{FF2B5EF4-FFF2-40B4-BE49-F238E27FC236}">
                <a16:creationId xmlns:a16="http://schemas.microsoft.com/office/drawing/2014/main" id="{7853C30F-0CC3-04A8-8586-AA9A640EA080}"/>
              </a:ext>
            </a:extLst>
          </p:cNvPr>
          <p:cNvPicPr>
            <a:picLocks noChangeAspect="1"/>
          </p:cNvPicPr>
          <p:nvPr/>
        </p:nvPicPr>
        <p:blipFill>
          <a:blip r:embed="rId3"/>
          <a:stretch>
            <a:fillRect/>
          </a:stretch>
        </p:blipFill>
        <p:spPr>
          <a:xfrm>
            <a:off x="769432" y="2693155"/>
            <a:ext cx="7883913" cy="3507822"/>
          </a:xfrm>
          <a:prstGeom prst="rect">
            <a:avLst/>
          </a:prstGeom>
        </p:spPr>
      </p:pic>
      <p:pic>
        <p:nvPicPr>
          <p:cNvPr id="9" name="Picture 8">
            <a:extLst>
              <a:ext uri="{FF2B5EF4-FFF2-40B4-BE49-F238E27FC236}">
                <a16:creationId xmlns:a16="http://schemas.microsoft.com/office/drawing/2014/main" id="{BC984990-552A-7C54-143C-8F699FAC250C}"/>
              </a:ext>
            </a:extLst>
          </p:cNvPr>
          <p:cNvPicPr>
            <a:picLocks noChangeAspect="1"/>
          </p:cNvPicPr>
          <p:nvPr/>
        </p:nvPicPr>
        <p:blipFill>
          <a:blip r:embed="rId4"/>
          <a:stretch>
            <a:fillRect/>
          </a:stretch>
        </p:blipFill>
        <p:spPr>
          <a:xfrm>
            <a:off x="1458054" y="597650"/>
            <a:ext cx="1095575" cy="595234"/>
          </a:xfrm>
          <a:prstGeom prst="rect">
            <a:avLst/>
          </a:prstGeom>
        </p:spPr>
      </p:pic>
      <p:pic>
        <p:nvPicPr>
          <p:cNvPr id="12" name="Picture 11">
            <a:extLst>
              <a:ext uri="{FF2B5EF4-FFF2-40B4-BE49-F238E27FC236}">
                <a16:creationId xmlns:a16="http://schemas.microsoft.com/office/drawing/2014/main" id="{3CA3EE0A-2008-7C95-48A3-DF30409A349F}"/>
              </a:ext>
            </a:extLst>
          </p:cNvPr>
          <p:cNvPicPr>
            <a:picLocks noChangeAspect="1"/>
          </p:cNvPicPr>
          <p:nvPr/>
        </p:nvPicPr>
        <p:blipFill>
          <a:blip r:embed="rId5"/>
          <a:stretch>
            <a:fillRect/>
          </a:stretch>
        </p:blipFill>
        <p:spPr>
          <a:xfrm>
            <a:off x="8084634" y="144966"/>
            <a:ext cx="6991815" cy="7931014"/>
          </a:xfrm>
          <a:prstGeom prst="rect">
            <a:avLst/>
          </a:prstGeom>
        </p:spPr>
      </p:pic>
    </p:spTree>
    <p:extLst>
      <p:ext uri="{BB962C8B-B14F-4D97-AF65-F5344CB8AC3E}">
        <p14:creationId xmlns:p14="http://schemas.microsoft.com/office/powerpoint/2010/main" val="954969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2ABDD-5FDF-6A37-2CA6-65A82AA1506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562EF44-2E82-0EC8-A2CF-052C285C4D8D}"/>
              </a:ext>
            </a:extLst>
          </p:cNvPr>
          <p:cNvPicPr>
            <a:picLocks noChangeAspect="1"/>
          </p:cNvPicPr>
          <p:nvPr/>
        </p:nvPicPr>
        <p:blipFill>
          <a:blip r:embed="rId2"/>
          <a:stretch>
            <a:fillRect/>
          </a:stretch>
        </p:blipFill>
        <p:spPr>
          <a:xfrm>
            <a:off x="0" y="-9094"/>
            <a:ext cx="14630400" cy="8238694"/>
          </a:xfrm>
          <a:prstGeom prst="rect">
            <a:avLst/>
          </a:prstGeom>
        </p:spPr>
      </p:pic>
      <p:sp>
        <p:nvSpPr>
          <p:cNvPr id="4" name="TextBox 3">
            <a:extLst>
              <a:ext uri="{FF2B5EF4-FFF2-40B4-BE49-F238E27FC236}">
                <a16:creationId xmlns:a16="http://schemas.microsoft.com/office/drawing/2014/main" id="{CA462BE3-EA8C-950F-F00F-1CD0C0AFB2F3}"/>
              </a:ext>
            </a:extLst>
          </p:cNvPr>
          <p:cNvSpPr txBox="1"/>
          <p:nvPr/>
        </p:nvSpPr>
        <p:spPr>
          <a:xfrm>
            <a:off x="646770" y="244678"/>
            <a:ext cx="10893189" cy="1908215"/>
          </a:xfrm>
          <a:prstGeom prst="rect">
            <a:avLst/>
          </a:prstGeom>
          <a:noFill/>
        </p:spPr>
        <p:txBody>
          <a:bodyPr wrap="square" rtlCol="0">
            <a:spAutoFit/>
          </a:bodyPr>
          <a:lstStyle/>
          <a:p>
            <a:r>
              <a:rPr lang="en-US" sz="3200" dirty="0">
                <a:solidFill>
                  <a:srgbClr val="233E32"/>
                </a:solidFill>
                <a:latin typeface="Lora" pitchFamily="2" charset="0"/>
                <a:ea typeface="Alice" pitchFamily="34" charset="-122"/>
                <a:cs typeface="Alice" pitchFamily="34" charset="-120"/>
              </a:rPr>
              <a:t>WHY USE A TRIE:</a:t>
            </a:r>
          </a:p>
          <a:p>
            <a:r>
              <a:rPr lang="en-IN" b="1" i="0" dirty="0">
                <a:solidFill>
                  <a:srgbClr val="0D0D0D"/>
                </a:solidFill>
                <a:effectLst/>
                <a:latin typeface="Lora" pitchFamily="2" charset="0"/>
              </a:rPr>
              <a:t>TrieInsertion</a:t>
            </a:r>
            <a:r>
              <a:rPr lang="en-IN" b="0" i="0" dirty="0">
                <a:solidFill>
                  <a:srgbClr val="0D0D0D"/>
                </a:solidFill>
                <a:effectLst/>
                <a:latin typeface="Lora" pitchFamily="2" charset="0"/>
              </a:rPr>
              <a:t>: O(m)</a:t>
            </a:r>
            <a:r>
              <a:rPr lang="en-IN" dirty="0">
                <a:solidFill>
                  <a:srgbClr val="0D0D0D"/>
                </a:solidFill>
                <a:latin typeface="Lora" pitchFamily="2" charset="0"/>
              </a:rPr>
              <a:t>                </a:t>
            </a:r>
            <a:r>
              <a:rPr lang="en-IN" b="1" i="0" dirty="0">
                <a:solidFill>
                  <a:srgbClr val="0D0D0D"/>
                </a:solidFill>
                <a:effectLst/>
                <a:latin typeface="Lora" pitchFamily="2" charset="0"/>
              </a:rPr>
              <a:t>Prefix Search</a:t>
            </a:r>
            <a:r>
              <a:rPr lang="en-IN" b="0" i="0" dirty="0">
                <a:solidFill>
                  <a:srgbClr val="0D0D0D"/>
                </a:solidFill>
                <a:effectLst/>
                <a:latin typeface="Lora" pitchFamily="2" charset="0"/>
              </a:rPr>
              <a:t>: O(m)</a:t>
            </a:r>
            <a:br>
              <a:rPr lang="en-IN" b="0" i="0" dirty="0">
                <a:solidFill>
                  <a:srgbClr val="0D0D0D"/>
                </a:solidFill>
                <a:effectLst/>
                <a:latin typeface="Lora" pitchFamily="2" charset="0"/>
              </a:rPr>
            </a:br>
            <a:r>
              <a:rPr lang="en-US" b="0" i="0" dirty="0">
                <a:solidFill>
                  <a:srgbClr val="0D0D0D"/>
                </a:solidFill>
                <a:effectLst/>
                <a:latin typeface="Lora" pitchFamily="2" charset="0"/>
              </a:rPr>
              <a:t>Tries excel in applications requiring prefix search, shared prefix memory optimization,multi-pattern matching, and binary prefix matching.</a:t>
            </a:r>
            <a:endParaRPr lang="en-US" sz="3200" dirty="0">
              <a:solidFill>
                <a:srgbClr val="233E32"/>
              </a:solidFill>
              <a:latin typeface="Lora" pitchFamily="2" charset="0"/>
              <a:ea typeface="Alice" pitchFamily="34" charset="-122"/>
              <a:cs typeface="Alice" pitchFamily="34" charset="-120"/>
            </a:endParaRPr>
          </a:p>
          <a:p>
            <a:endParaRPr lang="en-IN" sz="3200" dirty="0"/>
          </a:p>
        </p:txBody>
      </p:sp>
      <p:sp>
        <p:nvSpPr>
          <p:cNvPr id="10" name="Rectangle 5">
            <a:extLst>
              <a:ext uri="{FF2B5EF4-FFF2-40B4-BE49-F238E27FC236}">
                <a16:creationId xmlns:a16="http://schemas.microsoft.com/office/drawing/2014/main" id="{4F1D27CC-7957-4569-F74F-47D19E27116F}"/>
              </a:ext>
            </a:extLst>
          </p:cNvPr>
          <p:cNvSpPr>
            <a:spLocks noChangeArrowheads="1"/>
          </p:cNvSpPr>
          <p:nvPr/>
        </p:nvSpPr>
        <p:spPr bwMode="auto">
          <a:xfrm>
            <a:off x="947853" y="1943855"/>
            <a:ext cx="97238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Lora" pitchFamily="2" charset="0"/>
            </a:endParaRPr>
          </a:p>
        </p:txBody>
      </p:sp>
      <p:pic>
        <p:nvPicPr>
          <p:cNvPr id="6" name="Picture 5">
            <a:extLst>
              <a:ext uri="{FF2B5EF4-FFF2-40B4-BE49-F238E27FC236}">
                <a16:creationId xmlns:a16="http://schemas.microsoft.com/office/drawing/2014/main" id="{7AB53AF8-BE53-3153-2F78-636356E97B99}"/>
              </a:ext>
            </a:extLst>
          </p:cNvPr>
          <p:cNvPicPr>
            <a:picLocks noChangeAspect="1"/>
          </p:cNvPicPr>
          <p:nvPr/>
        </p:nvPicPr>
        <p:blipFill>
          <a:blip r:embed="rId3"/>
          <a:stretch>
            <a:fillRect/>
          </a:stretch>
        </p:blipFill>
        <p:spPr>
          <a:xfrm>
            <a:off x="10707854" y="98420"/>
            <a:ext cx="4449336" cy="4379323"/>
          </a:xfrm>
          <a:prstGeom prst="rect">
            <a:avLst/>
          </a:prstGeom>
        </p:spPr>
      </p:pic>
      <p:graphicFrame>
        <p:nvGraphicFramePr>
          <p:cNvPr id="9" name="Table 8">
            <a:extLst>
              <a:ext uri="{FF2B5EF4-FFF2-40B4-BE49-F238E27FC236}">
                <a16:creationId xmlns:a16="http://schemas.microsoft.com/office/drawing/2014/main" id="{CC7FB225-B3B8-D8CA-A768-51F8EA7132B3}"/>
              </a:ext>
            </a:extLst>
          </p:cNvPr>
          <p:cNvGraphicFramePr>
            <a:graphicFrameLocks noGrp="1"/>
          </p:cNvGraphicFramePr>
          <p:nvPr>
            <p:extLst>
              <p:ext uri="{D42A27DB-BD31-4B8C-83A1-F6EECF244321}">
                <p14:modId xmlns:p14="http://schemas.microsoft.com/office/powerpoint/2010/main" val="116409227"/>
              </p:ext>
            </p:extLst>
          </p:nvPr>
        </p:nvGraphicFramePr>
        <p:xfrm>
          <a:off x="1260228" y="2152893"/>
          <a:ext cx="9411489" cy="5841569"/>
        </p:xfrm>
        <a:graphic>
          <a:graphicData uri="http://schemas.openxmlformats.org/drawingml/2006/table">
            <a:tbl>
              <a:tblPr/>
              <a:tblGrid>
                <a:gridCol w="3137163">
                  <a:extLst>
                    <a:ext uri="{9D8B030D-6E8A-4147-A177-3AD203B41FA5}">
                      <a16:colId xmlns:a16="http://schemas.microsoft.com/office/drawing/2014/main" val="1881963725"/>
                    </a:ext>
                  </a:extLst>
                </a:gridCol>
                <a:gridCol w="3147916">
                  <a:extLst>
                    <a:ext uri="{9D8B030D-6E8A-4147-A177-3AD203B41FA5}">
                      <a16:colId xmlns:a16="http://schemas.microsoft.com/office/drawing/2014/main" val="1383335126"/>
                    </a:ext>
                  </a:extLst>
                </a:gridCol>
                <a:gridCol w="3126410">
                  <a:extLst>
                    <a:ext uri="{9D8B030D-6E8A-4147-A177-3AD203B41FA5}">
                      <a16:colId xmlns:a16="http://schemas.microsoft.com/office/drawing/2014/main" val="3204684392"/>
                    </a:ext>
                  </a:extLst>
                </a:gridCol>
              </a:tblGrid>
              <a:tr h="287338">
                <a:tc>
                  <a:txBody>
                    <a:bodyPr/>
                    <a:lstStyle/>
                    <a:p>
                      <a:pPr fontAlgn="b"/>
                      <a:r>
                        <a:rPr lang="en-IN" sz="1400" b="1" dirty="0">
                          <a:effectLst/>
                          <a:latin typeface="Lora" pitchFamily="2" charset="0"/>
                        </a:rPr>
                        <a:t>Data Structure</a:t>
                      </a:r>
                    </a:p>
                  </a:txBody>
                  <a:tcPr marL="35042" marR="35042" marT="17521" marB="17521" anchor="b">
                    <a:lnL w="7620" cap="flat" cmpd="sng" algn="ctr">
                      <a:solidFill>
                        <a:srgbClr val="B0ED3D"/>
                      </a:solidFill>
                      <a:prstDash val="solid"/>
                      <a:round/>
                      <a:headEnd type="none" w="med" len="med"/>
                      <a:tailEnd type="none" w="med" len="med"/>
                    </a:lnL>
                    <a:lnR w="7620" cap="flat" cmpd="sng" algn="ctr">
                      <a:solidFill>
                        <a:srgbClr val="30EC3D"/>
                      </a:solidFill>
                      <a:prstDash val="solid"/>
                      <a:round/>
                      <a:headEnd type="none" w="med" len="med"/>
                      <a:tailEnd type="none" w="med" len="med"/>
                    </a:lnR>
                    <a:lnT w="7620" cap="flat" cmpd="sng" algn="ctr">
                      <a:solidFill>
                        <a:srgbClr val="B0ED3D"/>
                      </a:solidFill>
                      <a:prstDash val="solid"/>
                      <a:round/>
                      <a:headEnd type="none" w="med" len="med"/>
                      <a:tailEnd type="none" w="med" len="med"/>
                    </a:lnT>
                    <a:lnB w="12700" cap="flat" cmpd="sng" algn="ctr">
                      <a:solidFill>
                        <a:srgbClr val="20083E"/>
                      </a:solidFill>
                      <a:prstDash val="solid"/>
                      <a:round/>
                      <a:headEnd type="none" w="med" len="med"/>
                      <a:tailEnd type="none" w="med" len="med"/>
                    </a:lnB>
                    <a:solidFill>
                      <a:srgbClr val="FFFFFF"/>
                    </a:solidFill>
                  </a:tcPr>
                </a:tc>
                <a:tc>
                  <a:txBody>
                    <a:bodyPr/>
                    <a:lstStyle/>
                    <a:p>
                      <a:pPr fontAlgn="b"/>
                      <a:r>
                        <a:rPr lang="en-IN" sz="1400" b="1" dirty="0">
                          <a:effectLst/>
                          <a:latin typeface="Lora" pitchFamily="2" charset="0"/>
                        </a:rPr>
                        <a:t>Operations &amp; Complexity</a:t>
                      </a:r>
                    </a:p>
                  </a:txBody>
                  <a:tcPr marL="35042" marR="35042" marT="17521" marB="17521" anchor="b">
                    <a:lnL w="7620" cap="flat" cmpd="sng" algn="ctr">
                      <a:solidFill>
                        <a:srgbClr val="30EC3D"/>
                      </a:solidFill>
                      <a:prstDash val="solid"/>
                      <a:round/>
                      <a:headEnd type="none" w="med" len="med"/>
                      <a:tailEnd type="none" w="med" len="med"/>
                    </a:lnL>
                    <a:lnR w="7620" cap="flat" cmpd="sng" algn="ctr">
                      <a:solidFill>
                        <a:srgbClr val="70F73D"/>
                      </a:solidFill>
                      <a:prstDash val="solid"/>
                      <a:round/>
                      <a:headEnd type="none" w="med" len="med"/>
                      <a:tailEnd type="none" w="med" len="med"/>
                    </a:lnR>
                    <a:lnT w="7620" cap="flat" cmpd="sng" algn="ctr">
                      <a:solidFill>
                        <a:srgbClr val="30EC3D"/>
                      </a:solidFill>
                      <a:prstDash val="solid"/>
                      <a:round/>
                      <a:headEnd type="none" w="med" len="med"/>
                      <a:tailEnd type="none" w="med" len="med"/>
                    </a:lnT>
                    <a:lnB w="12700" cap="flat" cmpd="sng" algn="ctr">
                      <a:solidFill>
                        <a:srgbClr val="60103E"/>
                      </a:solidFill>
                      <a:prstDash val="solid"/>
                      <a:round/>
                      <a:headEnd type="none" w="med" len="med"/>
                      <a:tailEnd type="none" w="med" len="med"/>
                    </a:lnB>
                    <a:solidFill>
                      <a:srgbClr val="FFFFFF"/>
                    </a:solidFill>
                  </a:tcPr>
                </a:tc>
                <a:tc>
                  <a:txBody>
                    <a:bodyPr/>
                    <a:lstStyle/>
                    <a:p>
                      <a:pPr fontAlgn="b"/>
                      <a:r>
                        <a:rPr lang="en-IN" sz="1400" b="1" dirty="0">
                          <a:effectLst/>
                          <a:latin typeface="Lora" pitchFamily="2" charset="0"/>
                        </a:rPr>
                        <a:t>Why Not Used</a:t>
                      </a:r>
                    </a:p>
                  </a:txBody>
                  <a:tcPr marL="35042" marR="35042" marT="17521" marB="17521" anchor="b">
                    <a:lnL w="7620" cap="flat" cmpd="sng" algn="ctr">
                      <a:solidFill>
                        <a:srgbClr val="70F73D"/>
                      </a:solidFill>
                      <a:prstDash val="solid"/>
                      <a:round/>
                      <a:headEnd type="none" w="med" len="med"/>
                      <a:tailEnd type="none" w="med" len="med"/>
                    </a:lnL>
                    <a:lnR w="7620" cap="flat" cmpd="sng" algn="ctr">
                      <a:solidFill>
                        <a:srgbClr val="70F73D"/>
                      </a:solidFill>
                      <a:prstDash val="solid"/>
                      <a:round/>
                      <a:headEnd type="none" w="med" len="med"/>
                      <a:tailEnd type="none" w="med" len="med"/>
                    </a:lnR>
                    <a:lnT w="7620" cap="flat" cmpd="sng" algn="ctr">
                      <a:solidFill>
                        <a:srgbClr val="70F73D"/>
                      </a:solidFill>
                      <a:prstDash val="solid"/>
                      <a:round/>
                      <a:headEnd type="none" w="med" len="med"/>
                      <a:tailEnd type="none" w="med" len="med"/>
                    </a:lnT>
                    <a:lnB w="12700" cap="flat" cmpd="sng" algn="ctr">
                      <a:solidFill>
                        <a:srgbClr val="60223E"/>
                      </a:solidFill>
                      <a:prstDash val="solid"/>
                      <a:round/>
                      <a:headEnd type="none" w="med" len="med"/>
                      <a:tailEnd type="none" w="med" len="med"/>
                    </a:lnB>
                    <a:solidFill>
                      <a:srgbClr val="FFFFFF"/>
                    </a:solidFill>
                  </a:tcPr>
                </a:tc>
                <a:extLst>
                  <a:ext uri="{0D108BD9-81ED-4DB2-BD59-A6C34878D82A}">
                    <a16:rowId xmlns:a16="http://schemas.microsoft.com/office/drawing/2014/main" val="1638248782"/>
                  </a:ext>
                </a:extLst>
              </a:tr>
              <a:tr h="1530871">
                <a:tc>
                  <a:txBody>
                    <a:bodyPr/>
                    <a:lstStyle/>
                    <a:p>
                      <a:pPr fontAlgn="base"/>
                      <a:r>
                        <a:rPr lang="en-IN" b="1" dirty="0">
                          <a:effectLst/>
                          <a:latin typeface="Lora" pitchFamily="2" charset="0"/>
                        </a:rPr>
                        <a:t>Hash Table</a:t>
                      </a:r>
                      <a:endParaRPr lang="en-IN" dirty="0">
                        <a:effectLst/>
                        <a:latin typeface="Lora" pitchFamily="2" charset="0"/>
                      </a:endParaRPr>
                    </a:p>
                  </a:txBody>
                  <a:tcPr anchor="ctr">
                    <a:lnL w="7620" cap="flat" cmpd="sng" algn="ctr">
                      <a:solidFill>
                        <a:srgbClr val="20143E"/>
                      </a:solidFill>
                      <a:prstDash val="solid"/>
                      <a:round/>
                      <a:headEnd type="none" w="med" len="med"/>
                      <a:tailEnd type="none" w="med" len="med"/>
                    </a:lnL>
                    <a:lnR w="7620" cap="flat" cmpd="sng" algn="ctr">
                      <a:solidFill>
                        <a:srgbClr val="30193E"/>
                      </a:solidFill>
                      <a:prstDash val="solid"/>
                      <a:round/>
                      <a:headEnd type="none" w="med" len="med"/>
                      <a:tailEnd type="none" w="med" len="med"/>
                    </a:lnR>
                    <a:lnT w="12700" cap="flat" cmpd="sng" algn="ctr">
                      <a:solidFill>
                        <a:srgbClr val="20083E"/>
                      </a:solidFill>
                      <a:prstDash val="solid"/>
                      <a:round/>
                      <a:headEnd type="none" w="med" len="med"/>
                      <a:tailEnd type="none" w="med" len="med"/>
                    </a:lnT>
                    <a:lnB w="12700" cap="flat" cmpd="sng" algn="ctr">
                      <a:solidFill>
                        <a:srgbClr val="90163E"/>
                      </a:solidFill>
                      <a:prstDash val="solid"/>
                      <a:round/>
                      <a:headEnd type="none" w="med" len="med"/>
                      <a:tailEnd type="none" w="med" len="med"/>
                    </a:lnB>
                    <a:solidFill>
                      <a:srgbClr val="FFFFFF"/>
                    </a:solidFill>
                  </a:tcPr>
                </a:tc>
                <a:tc>
                  <a:txBody>
                    <a:bodyPr/>
                    <a:lstStyle/>
                    <a:p>
                      <a:pPr fontAlgn="base"/>
                      <a:r>
                        <a:rPr lang="en-US" b="1" dirty="0">
                          <a:effectLst/>
                          <a:latin typeface="Lora" pitchFamily="2" charset="0"/>
                        </a:rPr>
                        <a:t>Exact Search</a:t>
                      </a:r>
                      <a:r>
                        <a:rPr lang="en-US" dirty="0">
                          <a:effectLst/>
                          <a:latin typeface="Lora" pitchFamily="2" charset="0"/>
                        </a:rPr>
                        <a:t>: O(1)</a:t>
                      </a:r>
                      <a:br>
                        <a:rPr lang="en-US" dirty="0">
                          <a:effectLst/>
                          <a:latin typeface="Lora" pitchFamily="2" charset="0"/>
                        </a:rPr>
                      </a:br>
                      <a:r>
                        <a:rPr lang="en-US" b="1" dirty="0">
                          <a:effectLst/>
                          <a:latin typeface="Lora" pitchFamily="2" charset="0"/>
                        </a:rPr>
                        <a:t>Prefix Search</a:t>
                      </a:r>
                      <a:r>
                        <a:rPr lang="en-US" dirty="0">
                          <a:effectLst/>
                          <a:latin typeface="Lora" pitchFamily="2" charset="0"/>
                        </a:rPr>
                        <a:t>: Not supported</a:t>
                      </a:r>
                    </a:p>
                  </a:txBody>
                  <a:tcPr anchor="ctr">
                    <a:lnL w="7620" cap="flat" cmpd="sng" algn="ctr">
                      <a:solidFill>
                        <a:srgbClr val="30193E"/>
                      </a:solidFill>
                      <a:prstDash val="solid"/>
                      <a:round/>
                      <a:headEnd type="none" w="med" len="med"/>
                      <a:tailEnd type="none" w="med" len="med"/>
                    </a:lnL>
                    <a:lnR w="7620" cap="flat" cmpd="sng" algn="ctr">
                      <a:solidFill>
                        <a:srgbClr val="502C3E"/>
                      </a:solidFill>
                      <a:prstDash val="solid"/>
                      <a:round/>
                      <a:headEnd type="none" w="med" len="med"/>
                      <a:tailEnd type="none" w="med" len="med"/>
                    </a:lnR>
                    <a:lnT w="12700" cap="flat" cmpd="sng" algn="ctr">
                      <a:solidFill>
                        <a:srgbClr val="60103E"/>
                      </a:solidFill>
                      <a:prstDash val="solid"/>
                      <a:round/>
                      <a:headEnd type="none" w="med" len="med"/>
                      <a:tailEnd type="none" w="med" len="med"/>
                    </a:lnT>
                    <a:lnB w="12700" cap="flat" cmpd="sng" algn="ctr">
                      <a:solidFill>
                        <a:srgbClr val="202C3E"/>
                      </a:solidFill>
                      <a:prstDash val="solid"/>
                      <a:round/>
                      <a:headEnd type="none" w="med" len="med"/>
                      <a:tailEnd type="none" w="med" len="med"/>
                    </a:lnB>
                    <a:solidFill>
                      <a:srgbClr val="FFFFFF"/>
                    </a:solidFill>
                  </a:tcPr>
                </a:tc>
                <a:tc>
                  <a:txBody>
                    <a:bodyPr/>
                    <a:lstStyle/>
                    <a:p>
                      <a:pPr fontAlgn="base"/>
                      <a:r>
                        <a:rPr lang="en-US" dirty="0">
                          <a:effectLst/>
                          <a:latin typeface="Lora" pitchFamily="2" charset="0"/>
                        </a:rPr>
                        <a:t>Hash tables are efficient for exact matching but don’t support prefix or pattern matching as efficiently as Tries do.</a:t>
                      </a:r>
                    </a:p>
                  </a:txBody>
                  <a:tcPr anchor="ctr">
                    <a:lnL w="7620" cap="flat" cmpd="sng" algn="ctr">
                      <a:solidFill>
                        <a:srgbClr val="502C3E"/>
                      </a:solidFill>
                      <a:prstDash val="solid"/>
                      <a:round/>
                      <a:headEnd type="none" w="med" len="med"/>
                      <a:tailEnd type="none" w="med" len="med"/>
                    </a:lnL>
                    <a:lnR w="7620" cap="flat" cmpd="sng" algn="ctr">
                      <a:solidFill>
                        <a:srgbClr val="502C3E"/>
                      </a:solidFill>
                      <a:prstDash val="solid"/>
                      <a:round/>
                      <a:headEnd type="none" w="med" len="med"/>
                      <a:tailEnd type="none" w="med" len="med"/>
                    </a:lnR>
                    <a:lnT w="12700" cap="flat" cmpd="sng" algn="ctr">
                      <a:solidFill>
                        <a:srgbClr val="60223E"/>
                      </a:solidFill>
                      <a:prstDash val="solid"/>
                      <a:round/>
                      <a:headEnd type="none" w="med" len="med"/>
                      <a:tailEnd type="none" w="med" len="med"/>
                    </a:lnT>
                    <a:lnB w="12700" cap="flat" cmpd="sng" algn="ctr">
                      <a:solidFill>
                        <a:srgbClr val="D0303E"/>
                      </a:solidFill>
                      <a:prstDash val="solid"/>
                      <a:round/>
                      <a:headEnd type="none" w="med" len="med"/>
                      <a:tailEnd type="none" w="med" len="med"/>
                    </a:lnB>
                    <a:solidFill>
                      <a:srgbClr val="FFFFFF"/>
                    </a:solidFill>
                  </a:tcPr>
                </a:tc>
                <a:extLst>
                  <a:ext uri="{0D108BD9-81ED-4DB2-BD59-A6C34878D82A}">
                    <a16:rowId xmlns:a16="http://schemas.microsoft.com/office/drawing/2014/main" val="1409067852"/>
                  </a:ext>
                </a:extLst>
              </a:tr>
              <a:tr h="1641937">
                <a:tc>
                  <a:txBody>
                    <a:bodyPr/>
                    <a:lstStyle/>
                    <a:p>
                      <a:pPr fontAlgn="base"/>
                      <a:r>
                        <a:rPr lang="en-IN" b="1" dirty="0">
                          <a:effectLst/>
                          <a:latin typeface="Lora" pitchFamily="2" charset="0"/>
                        </a:rPr>
                        <a:t>Suffix Tree</a:t>
                      </a:r>
                      <a:endParaRPr lang="en-IN" dirty="0">
                        <a:effectLst/>
                        <a:latin typeface="Lora" pitchFamily="2" charset="0"/>
                      </a:endParaRPr>
                    </a:p>
                  </a:txBody>
                  <a:tcPr anchor="ctr">
                    <a:lnL w="7620" cap="flat" cmpd="sng" algn="ctr">
                      <a:solidFill>
                        <a:srgbClr val="90163E"/>
                      </a:solidFill>
                      <a:prstDash val="solid"/>
                      <a:round/>
                      <a:headEnd type="none" w="med" len="med"/>
                      <a:tailEnd type="none" w="med" len="med"/>
                    </a:lnL>
                    <a:lnR w="7620" cap="flat" cmpd="sng" algn="ctr">
                      <a:solidFill>
                        <a:srgbClr val="202C3E"/>
                      </a:solidFill>
                      <a:prstDash val="solid"/>
                      <a:round/>
                      <a:headEnd type="none" w="med" len="med"/>
                      <a:tailEnd type="none" w="med" len="med"/>
                    </a:lnR>
                    <a:lnT w="12700" cap="flat" cmpd="sng" algn="ctr">
                      <a:solidFill>
                        <a:srgbClr val="90163E"/>
                      </a:solidFill>
                      <a:prstDash val="solid"/>
                      <a:round/>
                      <a:headEnd type="none" w="med" len="med"/>
                      <a:tailEnd type="none" w="med" len="med"/>
                    </a:lnT>
                    <a:lnB w="12700" cap="flat" cmpd="sng" algn="ctr">
                      <a:solidFill>
                        <a:srgbClr val="70213E"/>
                      </a:solidFill>
                      <a:prstDash val="solid"/>
                      <a:round/>
                      <a:headEnd type="none" w="med" len="med"/>
                      <a:tailEnd type="none" w="med" len="med"/>
                    </a:lnB>
                    <a:solidFill>
                      <a:srgbClr val="FFFFFF"/>
                    </a:solidFill>
                  </a:tcPr>
                </a:tc>
                <a:tc>
                  <a:txBody>
                    <a:bodyPr/>
                    <a:lstStyle/>
                    <a:p>
                      <a:pPr fontAlgn="base"/>
                      <a:r>
                        <a:rPr lang="en-IN" b="1" dirty="0">
                          <a:effectLst/>
                          <a:latin typeface="Lora" pitchFamily="2" charset="0"/>
                        </a:rPr>
                        <a:t>Exact Search</a:t>
                      </a:r>
                      <a:r>
                        <a:rPr lang="en-IN" dirty="0">
                          <a:effectLst/>
                          <a:latin typeface="Lora" pitchFamily="2" charset="0"/>
                        </a:rPr>
                        <a:t>: O(m)</a:t>
                      </a:r>
                      <a:br>
                        <a:rPr lang="en-IN" dirty="0">
                          <a:effectLst/>
                          <a:latin typeface="Lora" pitchFamily="2" charset="0"/>
                        </a:rPr>
                      </a:br>
                      <a:r>
                        <a:rPr lang="en-IN" b="1" dirty="0">
                          <a:effectLst/>
                          <a:latin typeface="Lora" pitchFamily="2" charset="0"/>
                        </a:rPr>
                        <a:t>Substring Match</a:t>
                      </a:r>
                      <a:r>
                        <a:rPr lang="en-IN" dirty="0">
                          <a:effectLst/>
                          <a:latin typeface="Lora" pitchFamily="2" charset="0"/>
                        </a:rPr>
                        <a:t>: O(m)</a:t>
                      </a:r>
                    </a:p>
                  </a:txBody>
                  <a:tcPr anchor="ctr">
                    <a:lnL w="7620" cap="flat" cmpd="sng" algn="ctr">
                      <a:solidFill>
                        <a:srgbClr val="202C3E"/>
                      </a:solidFill>
                      <a:prstDash val="solid"/>
                      <a:round/>
                      <a:headEnd type="none" w="med" len="med"/>
                      <a:tailEnd type="none" w="med" len="med"/>
                    </a:lnL>
                    <a:lnR w="7620" cap="flat" cmpd="sng" algn="ctr">
                      <a:solidFill>
                        <a:srgbClr val="D0303E"/>
                      </a:solidFill>
                      <a:prstDash val="solid"/>
                      <a:round/>
                      <a:headEnd type="none" w="med" len="med"/>
                      <a:tailEnd type="none" w="med" len="med"/>
                    </a:lnR>
                    <a:lnT w="12700" cap="flat" cmpd="sng" algn="ctr">
                      <a:solidFill>
                        <a:srgbClr val="202C3E"/>
                      </a:solidFill>
                      <a:prstDash val="solid"/>
                      <a:round/>
                      <a:headEnd type="none" w="med" len="med"/>
                      <a:tailEnd type="none" w="med" len="med"/>
                    </a:lnT>
                    <a:lnB w="12700" cap="flat" cmpd="sng" algn="ctr">
                      <a:solidFill>
                        <a:srgbClr val="603A3E"/>
                      </a:solidFill>
                      <a:prstDash val="solid"/>
                      <a:round/>
                      <a:headEnd type="none" w="med" len="med"/>
                      <a:tailEnd type="none" w="med" len="med"/>
                    </a:lnB>
                    <a:solidFill>
                      <a:srgbClr val="FFFFFF"/>
                    </a:solidFill>
                  </a:tcPr>
                </a:tc>
                <a:tc>
                  <a:txBody>
                    <a:bodyPr/>
                    <a:lstStyle/>
                    <a:p>
                      <a:pPr fontAlgn="base"/>
                      <a:r>
                        <a:rPr lang="en-US" dirty="0">
                          <a:effectLst/>
                          <a:latin typeface="Lora" pitchFamily="2" charset="0"/>
                        </a:rPr>
                        <a:t>Suffix trees are effective for substring matching, but they are memory-intensive and complex to implement, making them less ideal for large dictionaries.</a:t>
                      </a:r>
                    </a:p>
                  </a:txBody>
                  <a:tcPr anchor="ctr">
                    <a:lnL w="7620" cap="flat" cmpd="sng" algn="ctr">
                      <a:solidFill>
                        <a:srgbClr val="D0303E"/>
                      </a:solidFill>
                      <a:prstDash val="solid"/>
                      <a:round/>
                      <a:headEnd type="none" w="med" len="med"/>
                      <a:tailEnd type="none" w="med" len="med"/>
                    </a:lnL>
                    <a:lnR w="7620" cap="flat" cmpd="sng" algn="ctr">
                      <a:solidFill>
                        <a:srgbClr val="D0303E"/>
                      </a:solidFill>
                      <a:prstDash val="solid"/>
                      <a:round/>
                      <a:headEnd type="none" w="med" len="med"/>
                      <a:tailEnd type="none" w="med" len="med"/>
                    </a:lnR>
                    <a:lnT w="12700" cap="flat" cmpd="sng" algn="ctr">
                      <a:solidFill>
                        <a:srgbClr val="D0303E"/>
                      </a:solidFill>
                      <a:prstDash val="solid"/>
                      <a:round/>
                      <a:headEnd type="none" w="med" len="med"/>
                      <a:tailEnd type="none" w="med" len="med"/>
                    </a:lnT>
                    <a:lnB w="12700" cap="flat" cmpd="sng" algn="ctr">
                      <a:solidFill>
                        <a:srgbClr val="D0453E"/>
                      </a:solidFill>
                      <a:prstDash val="solid"/>
                      <a:round/>
                      <a:headEnd type="none" w="med" len="med"/>
                      <a:tailEnd type="none" w="med" len="med"/>
                    </a:lnB>
                    <a:solidFill>
                      <a:srgbClr val="FFFFFF"/>
                    </a:solidFill>
                  </a:tcPr>
                </a:tc>
                <a:extLst>
                  <a:ext uri="{0D108BD9-81ED-4DB2-BD59-A6C34878D82A}">
                    <a16:rowId xmlns:a16="http://schemas.microsoft.com/office/drawing/2014/main" val="682639565"/>
                  </a:ext>
                </a:extLst>
              </a:tr>
              <a:tr h="1817910">
                <a:tc>
                  <a:txBody>
                    <a:bodyPr/>
                    <a:lstStyle/>
                    <a:p>
                      <a:pPr fontAlgn="base"/>
                      <a:r>
                        <a:rPr lang="en-IN" b="1" dirty="0">
                          <a:effectLst/>
                          <a:latin typeface="Lora" pitchFamily="2" charset="0"/>
                        </a:rPr>
                        <a:t>Binary Search Tree (BST)</a:t>
                      </a:r>
                      <a:endParaRPr lang="en-IN" dirty="0">
                        <a:effectLst/>
                        <a:latin typeface="Lora" pitchFamily="2" charset="0"/>
                      </a:endParaRPr>
                    </a:p>
                  </a:txBody>
                  <a:tcPr anchor="ctr">
                    <a:lnL w="7620" cap="flat" cmpd="sng" algn="ctr">
                      <a:solidFill>
                        <a:srgbClr val="70213E"/>
                      </a:solidFill>
                      <a:prstDash val="solid"/>
                      <a:round/>
                      <a:headEnd type="none" w="med" len="med"/>
                      <a:tailEnd type="none" w="med" len="med"/>
                    </a:lnL>
                    <a:lnR w="7620" cap="flat" cmpd="sng" algn="ctr">
                      <a:solidFill>
                        <a:srgbClr val="603A3E"/>
                      </a:solidFill>
                      <a:prstDash val="solid"/>
                      <a:round/>
                      <a:headEnd type="none" w="med" len="med"/>
                      <a:tailEnd type="none" w="med" len="med"/>
                    </a:lnR>
                    <a:lnT w="12700" cap="flat" cmpd="sng" algn="ctr">
                      <a:solidFill>
                        <a:srgbClr val="70213E"/>
                      </a:solidFill>
                      <a:prstDash val="solid"/>
                      <a:round/>
                      <a:headEnd type="none" w="med" len="med"/>
                      <a:tailEnd type="none" w="med" len="med"/>
                    </a:lnT>
                    <a:lnB w="7620" cap="flat" cmpd="sng" algn="ctr">
                      <a:solidFill>
                        <a:srgbClr val="70213E"/>
                      </a:solidFill>
                      <a:prstDash val="solid"/>
                      <a:round/>
                      <a:headEnd type="none" w="med" len="med"/>
                      <a:tailEnd type="none" w="med" len="med"/>
                    </a:lnB>
                    <a:solidFill>
                      <a:srgbClr val="FFFFFF"/>
                    </a:solidFill>
                  </a:tcPr>
                </a:tc>
                <a:tc>
                  <a:txBody>
                    <a:bodyPr/>
                    <a:lstStyle/>
                    <a:p>
                      <a:pPr fontAlgn="base"/>
                      <a:r>
                        <a:rPr lang="en-IN" b="1" dirty="0">
                          <a:effectLst/>
                          <a:latin typeface="Lora" pitchFamily="2" charset="0"/>
                        </a:rPr>
                        <a:t>Search</a:t>
                      </a:r>
                      <a:r>
                        <a:rPr lang="en-IN" dirty="0">
                          <a:effectLst/>
                          <a:latin typeface="Lora" pitchFamily="2" charset="0"/>
                        </a:rPr>
                        <a:t>: O(log⁡n)(balanced)</a:t>
                      </a:r>
                      <a:br>
                        <a:rPr lang="en-IN" dirty="0">
                          <a:effectLst/>
                          <a:latin typeface="Lora" pitchFamily="2" charset="0"/>
                        </a:rPr>
                      </a:br>
                      <a:r>
                        <a:rPr lang="en-IN" b="1" dirty="0">
                          <a:effectLst/>
                          <a:latin typeface="Lora" pitchFamily="2" charset="0"/>
                        </a:rPr>
                        <a:t>Insert</a:t>
                      </a:r>
                      <a:r>
                        <a:rPr lang="en-IN" dirty="0">
                          <a:effectLst/>
                          <a:latin typeface="Lora" pitchFamily="2" charset="0"/>
                        </a:rPr>
                        <a:t>: O(log⁡n)</a:t>
                      </a:r>
                      <a:r>
                        <a:rPr lang="en-IN" i="1" dirty="0">
                          <a:effectLst/>
                          <a:latin typeface="Lora" pitchFamily="2" charset="0"/>
                        </a:rPr>
                        <a:t> </a:t>
                      </a:r>
                      <a:r>
                        <a:rPr lang="en-IN" dirty="0">
                          <a:effectLst/>
                          <a:latin typeface="Lora" pitchFamily="2" charset="0"/>
                        </a:rPr>
                        <a:t>(balanced)</a:t>
                      </a:r>
                    </a:p>
                  </a:txBody>
                  <a:tcPr anchor="ctr">
                    <a:lnL w="7620" cap="flat" cmpd="sng" algn="ctr">
                      <a:solidFill>
                        <a:srgbClr val="603A3E"/>
                      </a:solidFill>
                      <a:prstDash val="solid"/>
                      <a:round/>
                      <a:headEnd type="none" w="med" len="med"/>
                      <a:tailEnd type="none" w="med" len="med"/>
                    </a:lnL>
                    <a:lnR w="7620" cap="flat" cmpd="sng" algn="ctr">
                      <a:solidFill>
                        <a:srgbClr val="D0453E"/>
                      </a:solidFill>
                      <a:prstDash val="solid"/>
                      <a:round/>
                      <a:headEnd type="none" w="med" len="med"/>
                      <a:tailEnd type="none" w="med" len="med"/>
                    </a:lnR>
                    <a:lnT w="12700" cap="flat" cmpd="sng" algn="ctr">
                      <a:solidFill>
                        <a:srgbClr val="603A3E"/>
                      </a:solidFill>
                      <a:prstDash val="solid"/>
                      <a:round/>
                      <a:headEnd type="none" w="med" len="med"/>
                      <a:tailEnd type="none" w="med" len="med"/>
                    </a:lnT>
                    <a:lnB w="7620" cap="flat" cmpd="sng" algn="ctr">
                      <a:solidFill>
                        <a:srgbClr val="603A3E"/>
                      </a:solidFill>
                      <a:prstDash val="solid"/>
                      <a:round/>
                      <a:headEnd type="none" w="med" len="med"/>
                      <a:tailEnd type="none" w="med" len="med"/>
                    </a:lnB>
                    <a:solidFill>
                      <a:srgbClr val="FFFFFF"/>
                    </a:solidFill>
                  </a:tcPr>
                </a:tc>
                <a:tc>
                  <a:txBody>
                    <a:bodyPr/>
                    <a:lstStyle/>
                    <a:p>
                      <a:pPr fontAlgn="base"/>
                      <a:r>
                        <a:rPr lang="en-US" dirty="0">
                          <a:effectLst/>
                          <a:latin typeface="Lora" pitchFamily="2" charset="0"/>
                        </a:rPr>
                        <a:t>BSTs are designed for ordered, non-prefix based operations. Prefix-based string matching is inefficient as traversal depends on alphabetic order rather than structure.</a:t>
                      </a:r>
                    </a:p>
                  </a:txBody>
                  <a:tcPr anchor="ctr">
                    <a:lnL w="7620" cap="flat" cmpd="sng" algn="ctr">
                      <a:solidFill>
                        <a:srgbClr val="D0453E"/>
                      </a:solidFill>
                      <a:prstDash val="solid"/>
                      <a:round/>
                      <a:headEnd type="none" w="med" len="med"/>
                      <a:tailEnd type="none" w="med" len="med"/>
                    </a:lnL>
                    <a:lnR w="7620" cap="flat" cmpd="sng" algn="ctr">
                      <a:solidFill>
                        <a:srgbClr val="D0453E"/>
                      </a:solidFill>
                      <a:prstDash val="solid"/>
                      <a:round/>
                      <a:headEnd type="none" w="med" len="med"/>
                      <a:tailEnd type="none" w="med" len="med"/>
                    </a:lnR>
                    <a:lnT w="12700" cap="flat" cmpd="sng" algn="ctr">
                      <a:solidFill>
                        <a:srgbClr val="D0453E"/>
                      </a:solidFill>
                      <a:prstDash val="solid"/>
                      <a:round/>
                      <a:headEnd type="none" w="med" len="med"/>
                      <a:tailEnd type="none" w="med" len="med"/>
                    </a:lnT>
                    <a:lnB w="7620" cap="flat" cmpd="sng" algn="ctr">
                      <a:solidFill>
                        <a:srgbClr val="D0453E"/>
                      </a:solidFill>
                      <a:prstDash val="solid"/>
                      <a:round/>
                      <a:headEnd type="none" w="med" len="med"/>
                      <a:tailEnd type="none" w="med" len="med"/>
                    </a:lnB>
                    <a:solidFill>
                      <a:srgbClr val="FFFFFF"/>
                    </a:solidFill>
                  </a:tcPr>
                </a:tc>
                <a:extLst>
                  <a:ext uri="{0D108BD9-81ED-4DB2-BD59-A6C34878D82A}">
                    <a16:rowId xmlns:a16="http://schemas.microsoft.com/office/drawing/2014/main" val="3355970866"/>
                  </a:ext>
                </a:extLst>
              </a:tr>
            </a:tbl>
          </a:graphicData>
        </a:graphic>
      </p:graphicFrame>
      <p:sp>
        <p:nvSpPr>
          <p:cNvPr id="12" name="TextBox 11">
            <a:extLst>
              <a:ext uri="{FF2B5EF4-FFF2-40B4-BE49-F238E27FC236}">
                <a16:creationId xmlns:a16="http://schemas.microsoft.com/office/drawing/2014/main" id="{4A15C903-9DD9-A890-BA4D-BC350A1BAB7A}"/>
              </a:ext>
            </a:extLst>
          </p:cNvPr>
          <p:cNvSpPr txBox="1"/>
          <p:nvPr/>
        </p:nvSpPr>
        <p:spPr>
          <a:xfrm>
            <a:off x="646770" y="1783561"/>
            <a:ext cx="6134582" cy="369332"/>
          </a:xfrm>
          <a:prstGeom prst="rect">
            <a:avLst/>
          </a:prstGeom>
          <a:noFill/>
        </p:spPr>
        <p:txBody>
          <a:bodyPr wrap="square" rtlCol="0">
            <a:spAutoFit/>
          </a:bodyPr>
          <a:lstStyle/>
          <a:p>
            <a:r>
              <a:rPr lang="en-IN" b="1" dirty="0">
                <a:latin typeface="Lora" pitchFamily="2" charset="0"/>
              </a:rPr>
              <a:t>COMPRASSION WITH OTHER DATA STRUCTURES:</a:t>
            </a:r>
          </a:p>
        </p:txBody>
      </p:sp>
    </p:spTree>
    <p:extLst>
      <p:ext uri="{BB962C8B-B14F-4D97-AF65-F5344CB8AC3E}">
        <p14:creationId xmlns:p14="http://schemas.microsoft.com/office/powerpoint/2010/main" val="3897494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77691-B516-473A-A00F-29B5A031DF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7E6F763-E79D-5EBE-5D8A-AD9BC6EDA576}"/>
              </a:ext>
            </a:extLst>
          </p:cNvPr>
          <p:cNvSpPr txBox="1"/>
          <p:nvPr/>
        </p:nvSpPr>
        <p:spPr>
          <a:xfrm>
            <a:off x="936702" y="680651"/>
            <a:ext cx="13593337" cy="584775"/>
          </a:xfrm>
          <a:prstGeom prst="rect">
            <a:avLst/>
          </a:prstGeom>
          <a:noFill/>
        </p:spPr>
        <p:txBody>
          <a:bodyPr wrap="square" rtlCol="0">
            <a:spAutoFit/>
          </a:bodyPr>
          <a:lstStyle/>
          <a:p>
            <a:r>
              <a:rPr lang="en-US" sz="3200" dirty="0">
                <a:solidFill>
                  <a:srgbClr val="233E32"/>
                </a:solidFill>
                <a:latin typeface="Alice" pitchFamily="34" charset="0"/>
                <a:ea typeface="Alice" pitchFamily="34" charset="-122"/>
                <a:cs typeface="Alice" pitchFamily="34" charset="-120"/>
              </a:rPr>
              <a:t>DESIGN CHOICE;DATA STRUCTURE FOR STORING CHILD NODES:</a:t>
            </a:r>
            <a:endParaRPr lang="en-IN" dirty="0"/>
          </a:p>
        </p:txBody>
      </p:sp>
      <p:sp>
        <p:nvSpPr>
          <p:cNvPr id="10" name="Rectangle 5">
            <a:extLst>
              <a:ext uri="{FF2B5EF4-FFF2-40B4-BE49-F238E27FC236}">
                <a16:creationId xmlns:a16="http://schemas.microsoft.com/office/drawing/2014/main" id="{0E2488C6-A1F1-C5F2-D048-261992194FC1}"/>
              </a:ext>
            </a:extLst>
          </p:cNvPr>
          <p:cNvSpPr>
            <a:spLocks noChangeArrowheads="1"/>
          </p:cNvSpPr>
          <p:nvPr/>
        </p:nvSpPr>
        <p:spPr bwMode="auto">
          <a:xfrm>
            <a:off x="1315842" y="1695865"/>
            <a:ext cx="5129564"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2000" b="1" dirty="0">
                <a:latin typeface="Lora" pitchFamily="2" charset="0"/>
              </a:rPr>
              <a:t>WITH AN ARRAY OF AN K ELEMENTS:</a:t>
            </a: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000" b="1" dirty="0">
                <a:latin typeface="Lora" pitchFamily="2" charset="0"/>
              </a:rPr>
              <a:t>WITH A HASH TABLE</a:t>
            </a: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000" b="1" dirty="0">
                <a:latin typeface="Lora" pitchFamily="2"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Lora" pitchFamily="2" charset="0"/>
            </a:endParaRPr>
          </a:p>
        </p:txBody>
      </p:sp>
      <p:sp>
        <p:nvSpPr>
          <p:cNvPr id="2" name="Rectangle 1">
            <a:extLst>
              <a:ext uri="{FF2B5EF4-FFF2-40B4-BE49-F238E27FC236}">
                <a16:creationId xmlns:a16="http://schemas.microsoft.com/office/drawing/2014/main" id="{A1AAABAD-224E-F88F-3C25-8D47F8C8719B}"/>
              </a:ext>
            </a:extLst>
          </p:cNvPr>
          <p:cNvSpPr>
            <a:spLocks noChangeArrowheads="1"/>
          </p:cNvSpPr>
          <p:nvPr/>
        </p:nvSpPr>
        <p:spPr bwMode="auto">
          <a:xfrm>
            <a:off x="1739590" y="2122515"/>
            <a:ext cx="355642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Advantages: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Fast Access by Index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Simple Structure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Disadvantages: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Fixed Size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Inefficient Insertion and Deletion</a:t>
            </a:r>
          </a:p>
        </p:txBody>
      </p:sp>
      <p:sp>
        <p:nvSpPr>
          <p:cNvPr id="3" name="Rectangle 2">
            <a:extLst>
              <a:ext uri="{FF2B5EF4-FFF2-40B4-BE49-F238E27FC236}">
                <a16:creationId xmlns:a16="http://schemas.microsoft.com/office/drawing/2014/main" id="{24D7C4FE-7AD9-A456-0879-4313BA6B3421}"/>
              </a:ext>
            </a:extLst>
          </p:cNvPr>
          <p:cNvSpPr>
            <a:spLocks noChangeArrowheads="1"/>
          </p:cNvSpPr>
          <p:nvPr/>
        </p:nvSpPr>
        <p:spPr bwMode="auto">
          <a:xfrm>
            <a:off x="1828800" y="4605454"/>
            <a:ext cx="189346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Advantages: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Quick Lookup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Flexible Size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Disadvantages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Collisions.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No Order</a:t>
            </a:r>
          </a:p>
        </p:txBody>
      </p:sp>
      <p:sp>
        <p:nvSpPr>
          <p:cNvPr id="5" name="TextBox 4">
            <a:extLst>
              <a:ext uri="{FF2B5EF4-FFF2-40B4-BE49-F238E27FC236}">
                <a16:creationId xmlns:a16="http://schemas.microsoft.com/office/drawing/2014/main" id="{232C2809-051D-CFCF-E58C-53FA4FCC1AFC}"/>
              </a:ext>
            </a:extLst>
          </p:cNvPr>
          <p:cNvSpPr txBox="1"/>
          <p:nvPr/>
        </p:nvSpPr>
        <p:spPr>
          <a:xfrm>
            <a:off x="7081024" y="1695865"/>
            <a:ext cx="6043961" cy="313932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800" b="1" dirty="0">
                <a:latin typeface="Lora" pitchFamily="2" charset="0"/>
              </a:rPr>
              <a:t>WITH A DYNAMIC ARRAY</a:t>
            </a:r>
          </a:p>
          <a:p>
            <a:pPr marL="0" marR="0" lvl="0" indent="0" algn="l" defTabSz="914400" rtl="0" eaLnBrk="0" fontAlgn="base" latinLnBrk="0" hangingPunct="0">
              <a:lnSpc>
                <a:spcPct val="100000"/>
              </a:lnSpc>
              <a:spcBef>
                <a:spcPct val="0"/>
              </a:spcBef>
              <a:spcAft>
                <a:spcPct val="0"/>
              </a:spcAft>
              <a:buClrTx/>
              <a:buSzTx/>
              <a:tabLst/>
            </a:pPr>
            <a:endParaRPr lang="en-US" altLang="en-US" sz="18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b="1" dirty="0">
              <a:latin typeface="Lora" pitchFamily="2"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800" b="1" dirty="0">
                <a:latin typeface="Lora" pitchFamily="2" charset="0"/>
              </a:rPr>
              <a:t>WITH A LINKED LIST</a:t>
            </a:r>
          </a:p>
          <a:p>
            <a:endParaRPr lang="en-IN" dirty="0"/>
          </a:p>
        </p:txBody>
      </p:sp>
      <p:sp>
        <p:nvSpPr>
          <p:cNvPr id="6" name="Rectangle 3">
            <a:extLst>
              <a:ext uri="{FF2B5EF4-FFF2-40B4-BE49-F238E27FC236}">
                <a16:creationId xmlns:a16="http://schemas.microsoft.com/office/drawing/2014/main" id="{F41A3719-9064-AFB4-4671-3F9BC664F2F0}"/>
              </a:ext>
            </a:extLst>
          </p:cNvPr>
          <p:cNvSpPr>
            <a:spLocks noChangeArrowheads="1"/>
          </p:cNvSpPr>
          <p:nvPr/>
        </p:nvSpPr>
        <p:spPr bwMode="auto">
          <a:xfrm>
            <a:off x="7538225" y="2118732"/>
            <a:ext cx="306045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Advantages: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Resizable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Indexed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Disadvantages: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Resizing Overhead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Slower Insertions/Deletions</a:t>
            </a:r>
          </a:p>
        </p:txBody>
      </p:sp>
      <p:sp>
        <p:nvSpPr>
          <p:cNvPr id="8" name="Rectangle 4">
            <a:extLst>
              <a:ext uri="{FF2B5EF4-FFF2-40B4-BE49-F238E27FC236}">
                <a16:creationId xmlns:a16="http://schemas.microsoft.com/office/drawing/2014/main" id="{774BFD72-E70D-6EBC-2A52-2DD06BB33DA7}"/>
              </a:ext>
            </a:extLst>
          </p:cNvPr>
          <p:cNvSpPr>
            <a:spLocks noChangeArrowheads="1"/>
          </p:cNvSpPr>
          <p:nvPr/>
        </p:nvSpPr>
        <p:spPr bwMode="auto">
          <a:xfrm>
            <a:off x="7627435" y="4605454"/>
            <a:ext cx="317170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Advantages: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Flexible Size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Efficient Insertions/Deletions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Disadvantages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Slow Access by Inde</a:t>
            </a:r>
            <a:r>
              <a:rPr lang="en-US" altLang="en-US" dirty="0">
                <a:latin typeface="Arial" panose="020B0604020202020204" pitchFamily="34" charset="0"/>
              </a:rPr>
              <a:t>x</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Higher Memory Usage</a:t>
            </a:r>
          </a:p>
        </p:txBody>
      </p:sp>
      <p:sp>
        <p:nvSpPr>
          <p:cNvPr id="9" name="TextBox 8">
            <a:extLst>
              <a:ext uri="{FF2B5EF4-FFF2-40B4-BE49-F238E27FC236}">
                <a16:creationId xmlns:a16="http://schemas.microsoft.com/office/drawing/2014/main" id="{4CAA0827-30C9-C177-1B94-0258860B2732}"/>
              </a:ext>
            </a:extLst>
          </p:cNvPr>
          <p:cNvSpPr txBox="1"/>
          <p:nvPr/>
        </p:nvSpPr>
        <p:spPr>
          <a:xfrm>
            <a:off x="1315842" y="6125604"/>
            <a:ext cx="12154831" cy="2308324"/>
          </a:xfrm>
          <a:prstGeom prst="rect">
            <a:avLst/>
          </a:prstGeom>
          <a:noFill/>
        </p:spPr>
        <p:txBody>
          <a:bodyPr wrap="square" rtlCol="0">
            <a:spAutoFit/>
          </a:bodyPr>
          <a:lstStyle/>
          <a:p>
            <a:endParaRPr lang="en-US" altLang="en-US" sz="2400" b="1" dirty="0">
              <a:latin typeface="Lora" pitchFamily="2" charset="0"/>
            </a:endParaRPr>
          </a:p>
          <a:p>
            <a:r>
              <a:rPr lang="en-US" altLang="en-US" sz="2400" b="1" dirty="0">
                <a:latin typeface="Lora" pitchFamily="2" charset="0"/>
              </a:rPr>
              <a:t>BEST CHOICE FOR OUR PROJECT:</a:t>
            </a:r>
          </a:p>
          <a:p>
            <a:endParaRPr lang="en-US" altLang="en-US" sz="2400" b="1" dirty="0">
              <a:latin typeface="Lora" pitchFamily="2" charset="0"/>
            </a:endParaRPr>
          </a:p>
          <a:p>
            <a:r>
              <a:rPr lang="en-US" altLang="en-US" dirty="0">
                <a:latin typeface="Lora" pitchFamily="2" charset="0"/>
              </a:rPr>
              <a:t>AS LOOKUP TIME IS PRIMARY REQUIREMENT FOR OUR PROJECT, WE HAVE CHOOSED </a:t>
            </a:r>
            <a:r>
              <a:rPr lang="en-US" altLang="en-US" b="1" dirty="0">
                <a:latin typeface="Lora" pitchFamily="2" charset="0"/>
              </a:rPr>
              <a:t>HASH TABLE </a:t>
            </a:r>
            <a:r>
              <a:rPr lang="en-US" altLang="en-US" dirty="0">
                <a:latin typeface="Lora" pitchFamily="2" charset="0"/>
              </a:rPr>
              <a:t>AS IT OFFERS AVERAGE TIME COMPLEXITY FOR INSERTION,DELETION,AND LOOKUP IS O(1) DUE TO HASHING.</a:t>
            </a:r>
          </a:p>
          <a:p>
            <a:br>
              <a:rPr lang="en-US" altLang="en-US" sz="1800" b="1" dirty="0">
                <a:latin typeface="Lora" pitchFamily="2" charset="0"/>
              </a:rPr>
            </a:br>
            <a:endParaRPr lang="en-IN" dirty="0"/>
          </a:p>
        </p:txBody>
      </p:sp>
    </p:spTree>
    <p:extLst>
      <p:ext uri="{BB962C8B-B14F-4D97-AF65-F5344CB8AC3E}">
        <p14:creationId xmlns:p14="http://schemas.microsoft.com/office/powerpoint/2010/main" val="2814553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5590C-A1DD-7019-D368-FF70269FFB4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FCAAC9-B257-7549-D06B-68F4AF0C94D3}"/>
              </a:ext>
            </a:extLst>
          </p:cNvPr>
          <p:cNvSpPr txBox="1"/>
          <p:nvPr/>
        </p:nvSpPr>
        <p:spPr>
          <a:xfrm>
            <a:off x="936702" y="680651"/>
            <a:ext cx="13593337" cy="584775"/>
          </a:xfrm>
          <a:prstGeom prst="rect">
            <a:avLst/>
          </a:prstGeom>
          <a:noFill/>
        </p:spPr>
        <p:txBody>
          <a:bodyPr wrap="square" rtlCol="0">
            <a:spAutoFit/>
          </a:bodyPr>
          <a:lstStyle/>
          <a:p>
            <a:r>
              <a:rPr lang="en-US" sz="3200" dirty="0">
                <a:solidFill>
                  <a:srgbClr val="233E32"/>
                </a:solidFill>
                <a:latin typeface="Alice" pitchFamily="34" charset="0"/>
                <a:ea typeface="Alice" pitchFamily="34" charset="-122"/>
                <a:cs typeface="Alice" pitchFamily="34" charset="-120"/>
              </a:rPr>
              <a:t>TRIE ADT:</a:t>
            </a:r>
            <a:endParaRPr lang="en-IN" dirty="0"/>
          </a:p>
        </p:txBody>
      </p:sp>
      <p:graphicFrame>
        <p:nvGraphicFramePr>
          <p:cNvPr id="8" name="Table 7">
            <a:extLst>
              <a:ext uri="{FF2B5EF4-FFF2-40B4-BE49-F238E27FC236}">
                <a16:creationId xmlns:a16="http://schemas.microsoft.com/office/drawing/2014/main" id="{BBA33D70-36C6-CE89-07E0-0FC680042607}"/>
              </a:ext>
            </a:extLst>
          </p:cNvPr>
          <p:cNvGraphicFramePr>
            <a:graphicFrameLocks noGrp="1"/>
          </p:cNvGraphicFramePr>
          <p:nvPr>
            <p:extLst>
              <p:ext uri="{D42A27DB-BD31-4B8C-83A1-F6EECF244321}">
                <p14:modId xmlns:p14="http://schemas.microsoft.com/office/powerpoint/2010/main" val="1463893362"/>
              </p:ext>
            </p:extLst>
          </p:nvPr>
        </p:nvGraphicFramePr>
        <p:xfrm>
          <a:off x="1505094" y="1265426"/>
          <a:ext cx="10891393" cy="5937812"/>
        </p:xfrm>
        <a:graphic>
          <a:graphicData uri="http://schemas.openxmlformats.org/drawingml/2006/table">
            <a:tbl>
              <a:tblPr/>
              <a:tblGrid>
                <a:gridCol w="2658501">
                  <a:extLst>
                    <a:ext uri="{9D8B030D-6E8A-4147-A177-3AD203B41FA5}">
                      <a16:colId xmlns:a16="http://schemas.microsoft.com/office/drawing/2014/main" val="2562903417"/>
                    </a:ext>
                  </a:extLst>
                </a:gridCol>
                <a:gridCol w="2335209">
                  <a:extLst>
                    <a:ext uri="{9D8B030D-6E8A-4147-A177-3AD203B41FA5}">
                      <a16:colId xmlns:a16="http://schemas.microsoft.com/office/drawing/2014/main" val="713612558"/>
                    </a:ext>
                  </a:extLst>
                </a:gridCol>
                <a:gridCol w="5897683">
                  <a:extLst>
                    <a:ext uri="{9D8B030D-6E8A-4147-A177-3AD203B41FA5}">
                      <a16:colId xmlns:a16="http://schemas.microsoft.com/office/drawing/2014/main" val="3313719479"/>
                    </a:ext>
                  </a:extLst>
                </a:gridCol>
              </a:tblGrid>
              <a:tr h="925828">
                <a:tc>
                  <a:txBody>
                    <a:bodyPr/>
                    <a:lstStyle/>
                    <a:p>
                      <a:pPr fontAlgn="b"/>
                      <a:r>
                        <a:rPr lang="en-IN" sz="1800" b="1" dirty="0">
                          <a:effectLst/>
                          <a:latin typeface="Lora" pitchFamily="2" charset="0"/>
                        </a:rPr>
                        <a:t>Method</a:t>
                      </a:r>
                    </a:p>
                  </a:txBody>
                  <a:tcPr marL="32430" marR="32430" marT="16215" marB="16215" anchor="b">
                    <a:lnL w="7620" cap="flat" cmpd="sng" algn="ctr">
                      <a:solidFill>
                        <a:srgbClr val="E0B0AB"/>
                      </a:solidFill>
                      <a:prstDash val="solid"/>
                      <a:round/>
                      <a:headEnd type="none" w="med" len="med"/>
                      <a:tailEnd type="none" w="med" len="med"/>
                    </a:lnL>
                    <a:lnR w="7620" cap="flat" cmpd="sng" algn="ctr">
                      <a:solidFill>
                        <a:srgbClr val="80BCAB"/>
                      </a:solidFill>
                      <a:prstDash val="solid"/>
                      <a:round/>
                      <a:headEnd type="none" w="med" len="med"/>
                      <a:tailEnd type="none" w="med" len="med"/>
                    </a:lnR>
                    <a:lnT w="7620" cap="flat" cmpd="sng" algn="ctr">
                      <a:solidFill>
                        <a:srgbClr val="E0B0AB"/>
                      </a:solidFill>
                      <a:prstDash val="solid"/>
                      <a:round/>
                      <a:headEnd type="none" w="med" len="med"/>
                      <a:tailEnd type="none" w="med" len="med"/>
                    </a:lnT>
                    <a:lnB w="12700" cap="flat" cmpd="sng" algn="ctr">
                      <a:solidFill>
                        <a:srgbClr val="10B7AB"/>
                      </a:solidFill>
                      <a:prstDash val="solid"/>
                      <a:round/>
                      <a:headEnd type="none" w="med" len="med"/>
                      <a:tailEnd type="none" w="med" len="med"/>
                    </a:lnB>
                    <a:solidFill>
                      <a:srgbClr val="FFFFFF"/>
                    </a:solidFill>
                  </a:tcPr>
                </a:tc>
                <a:tc>
                  <a:txBody>
                    <a:bodyPr/>
                    <a:lstStyle/>
                    <a:p>
                      <a:pPr fontAlgn="b"/>
                      <a:r>
                        <a:rPr lang="en-IN" sz="1800" b="1" dirty="0">
                          <a:effectLst/>
                          <a:latin typeface="Lora" pitchFamily="2" charset="0"/>
                        </a:rPr>
                        <a:t>Time Complexity</a:t>
                      </a:r>
                    </a:p>
                  </a:txBody>
                  <a:tcPr marL="32430" marR="32430" marT="16215" marB="16215" anchor="b">
                    <a:lnL w="7620" cap="flat" cmpd="sng" algn="ctr">
                      <a:solidFill>
                        <a:srgbClr val="80BCAB"/>
                      </a:solidFill>
                      <a:prstDash val="solid"/>
                      <a:round/>
                      <a:headEnd type="none" w="med" len="med"/>
                      <a:tailEnd type="none" w="med" len="med"/>
                    </a:lnL>
                    <a:lnR w="7620" cap="flat" cmpd="sng" algn="ctr">
                      <a:solidFill>
                        <a:srgbClr val="B0C8AB"/>
                      </a:solidFill>
                      <a:prstDash val="solid"/>
                      <a:round/>
                      <a:headEnd type="none" w="med" len="med"/>
                      <a:tailEnd type="none" w="med" len="med"/>
                    </a:lnR>
                    <a:lnT w="7620" cap="flat" cmpd="sng" algn="ctr">
                      <a:solidFill>
                        <a:srgbClr val="80BCAB"/>
                      </a:solidFill>
                      <a:prstDash val="solid"/>
                      <a:round/>
                      <a:headEnd type="none" w="med" len="med"/>
                      <a:tailEnd type="none" w="med" len="med"/>
                    </a:lnT>
                    <a:lnB w="12700" cap="flat" cmpd="sng" algn="ctr">
                      <a:solidFill>
                        <a:srgbClr val="C0C4AB"/>
                      </a:solidFill>
                      <a:prstDash val="solid"/>
                      <a:round/>
                      <a:headEnd type="none" w="med" len="med"/>
                      <a:tailEnd type="none" w="med" len="med"/>
                    </a:lnB>
                    <a:solidFill>
                      <a:srgbClr val="FFFFFF"/>
                    </a:solidFill>
                  </a:tcPr>
                </a:tc>
                <a:tc>
                  <a:txBody>
                    <a:bodyPr/>
                    <a:lstStyle/>
                    <a:p>
                      <a:pPr fontAlgn="b"/>
                      <a:r>
                        <a:rPr lang="en-IN" sz="1800" b="1" dirty="0">
                          <a:effectLst/>
                          <a:latin typeface="Lora" pitchFamily="2" charset="0"/>
                        </a:rPr>
                        <a:t>Justification</a:t>
                      </a:r>
                    </a:p>
                  </a:txBody>
                  <a:tcPr marL="32430" marR="32430" marT="16215" marB="16215" anchor="b">
                    <a:lnL w="7620" cap="flat" cmpd="sng" algn="ctr">
                      <a:solidFill>
                        <a:srgbClr val="B0C8AB"/>
                      </a:solidFill>
                      <a:prstDash val="solid"/>
                      <a:round/>
                      <a:headEnd type="none" w="med" len="med"/>
                      <a:tailEnd type="none" w="med" len="med"/>
                    </a:lnL>
                    <a:lnR w="7620" cap="flat" cmpd="sng" algn="ctr">
                      <a:solidFill>
                        <a:srgbClr val="B0C8AB"/>
                      </a:solidFill>
                      <a:prstDash val="solid"/>
                      <a:round/>
                      <a:headEnd type="none" w="med" len="med"/>
                      <a:tailEnd type="none" w="med" len="med"/>
                    </a:lnR>
                    <a:lnT w="7620" cap="flat" cmpd="sng" algn="ctr">
                      <a:solidFill>
                        <a:srgbClr val="B0C8AB"/>
                      </a:solidFill>
                      <a:prstDash val="solid"/>
                      <a:round/>
                      <a:headEnd type="none" w="med" len="med"/>
                      <a:tailEnd type="none" w="med" len="med"/>
                    </a:lnT>
                    <a:lnB w="12700" cap="flat" cmpd="sng" algn="ctr">
                      <a:solidFill>
                        <a:srgbClr val="00CAAB"/>
                      </a:solidFill>
                      <a:prstDash val="solid"/>
                      <a:round/>
                      <a:headEnd type="none" w="med" len="med"/>
                      <a:tailEnd type="none" w="med" len="med"/>
                    </a:lnB>
                    <a:solidFill>
                      <a:srgbClr val="FFFFFF"/>
                    </a:solidFill>
                  </a:tcPr>
                </a:tc>
                <a:extLst>
                  <a:ext uri="{0D108BD9-81ED-4DB2-BD59-A6C34878D82A}">
                    <a16:rowId xmlns:a16="http://schemas.microsoft.com/office/drawing/2014/main" val="2634495280"/>
                  </a:ext>
                </a:extLst>
              </a:tr>
              <a:tr h="882036">
                <a:tc>
                  <a:txBody>
                    <a:bodyPr/>
                    <a:lstStyle/>
                    <a:p>
                      <a:pPr fontAlgn="base"/>
                      <a:r>
                        <a:rPr lang="en-IN" sz="1400" dirty="0">
                          <a:effectLst/>
                          <a:latin typeface="Lora" pitchFamily="2" charset="0"/>
                        </a:rPr>
                        <a:t>add_word(word)</a:t>
                      </a:r>
                    </a:p>
                  </a:txBody>
                  <a:tcPr marL="32430" marR="32430" marT="16215" marB="16215" anchor="ctr">
                    <a:lnL w="7620" cap="flat" cmpd="sng" algn="ctr">
                      <a:solidFill>
                        <a:srgbClr val="10B7AB"/>
                      </a:solidFill>
                      <a:prstDash val="solid"/>
                      <a:round/>
                      <a:headEnd type="none" w="med" len="med"/>
                      <a:tailEnd type="none" w="med" len="med"/>
                    </a:lnL>
                    <a:lnR w="7620" cap="flat" cmpd="sng" algn="ctr">
                      <a:solidFill>
                        <a:srgbClr val="C0C4AB"/>
                      </a:solidFill>
                      <a:prstDash val="solid"/>
                      <a:round/>
                      <a:headEnd type="none" w="med" len="med"/>
                      <a:tailEnd type="none" w="med" len="med"/>
                    </a:lnR>
                    <a:lnT w="12700" cap="flat" cmpd="sng" algn="ctr">
                      <a:solidFill>
                        <a:srgbClr val="10B7AB"/>
                      </a:solidFill>
                      <a:prstDash val="solid"/>
                      <a:round/>
                      <a:headEnd type="none" w="med" len="med"/>
                      <a:tailEnd type="none" w="med" len="med"/>
                    </a:lnT>
                    <a:lnB w="12700" cap="flat" cmpd="sng" algn="ctr">
                      <a:solidFill>
                        <a:srgbClr val="00CAAB"/>
                      </a:solidFill>
                      <a:prstDash val="solid"/>
                      <a:round/>
                      <a:headEnd type="none" w="med" len="med"/>
                      <a:tailEnd type="none" w="med" len="med"/>
                    </a:lnB>
                    <a:solidFill>
                      <a:srgbClr val="FFFFFF"/>
                    </a:solidFill>
                  </a:tcPr>
                </a:tc>
                <a:tc>
                  <a:txBody>
                    <a:bodyPr/>
                    <a:lstStyle/>
                    <a:p>
                      <a:pPr fontAlgn="base"/>
                      <a:r>
                        <a:rPr lang="en-IN" sz="1400" dirty="0">
                          <a:effectLst/>
                          <a:latin typeface="Lora" pitchFamily="2" charset="0"/>
                        </a:rPr>
                        <a:t>O(m)</a:t>
                      </a:r>
                    </a:p>
                  </a:txBody>
                  <a:tcPr marL="32430" marR="32430" marT="16215" marB="16215" anchor="ctr">
                    <a:lnL w="7620" cap="flat" cmpd="sng" algn="ctr">
                      <a:solidFill>
                        <a:srgbClr val="C0C4AB"/>
                      </a:solidFill>
                      <a:prstDash val="solid"/>
                      <a:round/>
                      <a:headEnd type="none" w="med" len="med"/>
                      <a:tailEnd type="none" w="med" len="med"/>
                    </a:lnL>
                    <a:lnR w="7620" cap="flat" cmpd="sng" algn="ctr">
                      <a:solidFill>
                        <a:srgbClr val="00CAAB"/>
                      </a:solidFill>
                      <a:prstDash val="solid"/>
                      <a:round/>
                      <a:headEnd type="none" w="med" len="med"/>
                      <a:tailEnd type="none" w="med" len="med"/>
                    </a:lnR>
                    <a:lnT w="12700" cap="flat" cmpd="sng" algn="ctr">
                      <a:solidFill>
                        <a:srgbClr val="C0C4AB"/>
                      </a:solidFill>
                      <a:prstDash val="solid"/>
                      <a:round/>
                      <a:headEnd type="none" w="med" len="med"/>
                      <a:tailEnd type="none" w="med" len="med"/>
                    </a:lnT>
                    <a:lnB w="12700" cap="flat" cmpd="sng" algn="ctr">
                      <a:solidFill>
                        <a:srgbClr val="F0DFAB"/>
                      </a:solidFill>
                      <a:prstDash val="solid"/>
                      <a:round/>
                      <a:headEnd type="none" w="med" len="med"/>
                      <a:tailEnd type="none" w="med" len="med"/>
                    </a:lnB>
                    <a:solidFill>
                      <a:srgbClr val="FFFFFF"/>
                    </a:solidFill>
                  </a:tcPr>
                </a:tc>
                <a:tc>
                  <a:txBody>
                    <a:bodyPr/>
                    <a:lstStyle/>
                    <a:p>
                      <a:pPr fontAlgn="base"/>
                      <a:r>
                        <a:rPr lang="en-US" sz="1400" dirty="0">
                          <a:effectLst/>
                          <a:latin typeface="Lora" pitchFamily="2" charset="0"/>
                        </a:rPr>
                        <a:t>Each character in the word results in either a node traversal or creation, making the operation linear in the length of the word.</a:t>
                      </a:r>
                    </a:p>
                  </a:txBody>
                  <a:tcPr marL="32430" marR="32430" marT="16215" marB="16215" anchor="ctr">
                    <a:lnL w="7620" cap="flat" cmpd="sng" algn="ctr">
                      <a:solidFill>
                        <a:srgbClr val="00CAAB"/>
                      </a:solidFill>
                      <a:prstDash val="solid"/>
                      <a:round/>
                      <a:headEnd type="none" w="med" len="med"/>
                      <a:tailEnd type="none" w="med" len="med"/>
                    </a:lnL>
                    <a:lnR w="7620" cap="flat" cmpd="sng" algn="ctr">
                      <a:solidFill>
                        <a:srgbClr val="00CAAB"/>
                      </a:solidFill>
                      <a:prstDash val="solid"/>
                      <a:round/>
                      <a:headEnd type="none" w="med" len="med"/>
                      <a:tailEnd type="none" w="med" len="med"/>
                    </a:lnR>
                    <a:lnT w="12700" cap="flat" cmpd="sng" algn="ctr">
                      <a:solidFill>
                        <a:srgbClr val="00CAAB"/>
                      </a:solidFill>
                      <a:prstDash val="solid"/>
                      <a:round/>
                      <a:headEnd type="none" w="med" len="med"/>
                      <a:tailEnd type="none" w="med" len="med"/>
                    </a:lnT>
                    <a:lnB w="12700" cap="flat" cmpd="sng" algn="ctr">
                      <a:solidFill>
                        <a:srgbClr val="70E4AB"/>
                      </a:solidFill>
                      <a:prstDash val="solid"/>
                      <a:round/>
                      <a:headEnd type="none" w="med" len="med"/>
                      <a:tailEnd type="none" w="med" len="med"/>
                    </a:lnB>
                    <a:solidFill>
                      <a:srgbClr val="FFFFFF"/>
                    </a:solidFill>
                  </a:tcPr>
                </a:tc>
                <a:extLst>
                  <a:ext uri="{0D108BD9-81ED-4DB2-BD59-A6C34878D82A}">
                    <a16:rowId xmlns:a16="http://schemas.microsoft.com/office/drawing/2014/main" val="3434302415"/>
                  </a:ext>
                </a:extLst>
              </a:tr>
              <a:tr h="715560">
                <a:tc>
                  <a:txBody>
                    <a:bodyPr/>
                    <a:lstStyle/>
                    <a:p>
                      <a:pPr fontAlgn="base"/>
                      <a:r>
                        <a:rPr lang="en-IN" sz="1400" dirty="0">
                          <a:effectLst/>
                          <a:latin typeface="Lora" pitchFamily="2" charset="0"/>
                        </a:rPr>
                        <a:t>search_word(word)</a:t>
                      </a:r>
                      <a:endParaRPr lang="en-IN" sz="600" dirty="0">
                        <a:effectLst/>
                        <a:latin typeface="Lora" pitchFamily="2" charset="0"/>
                      </a:endParaRPr>
                    </a:p>
                  </a:txBody>
                  <a:tcPr marL="32430" marR="32430" marT="16215" marB="16215" anchor="ctr">
                    <a:lnL w="7620" cap="flat" cmpd="sng" algn="ctr">
                      <a:solidFill>
                        <a:srgbClr val="00CAAB"/>
                      </a:solidFill>
                      <a:prstDash val="solid"/>
                      <a:round/>
                      <a:headEnd type="none" w="med" len="med"/>
                      <a:tailEnd type="none" w="med" len="med"/>
                    </a:lnL>
                    <a:lnR w="7620" cap="flat" cmpd="sng" algn="ctr">
                      <a:solidFill>
                        <a:srgbClr val="F0DFAB"/>
                      </a:solidFill>
                      <a:prstDash val="solid"/>
                      <a:round/>
                      <a:headEnd type="none" w="med" len="med"/>
                      <a:tailEnd type="none" w="med" len="med"/>
                    </a:lnR>
                    <a:lnT w="12700" cap="flat" cmpd="sng" algn="ctr">
                      <a:solidFill>
                        <a:srgbClr val="00CAAB"/>
                      </a:solidFill>
                      <a:prstDash val="solid"/>
                      <a:round/>
                      <a:headEnd type="none" w="med" len="med"/>
                      <a:tailEnd type="none" w="med" len="med"/>
                    </a:lnT>
                    <a:lnB w="12700" cap="flat" cmpd="sng" algn="ctr">
                      <a:solidFill>
                        <a:srgbClr val="90D3AB"/>
                      </a:solidFill>
                      <a:prstDash val="solid"/>
                      <a:round/>
                      <a:headEnd type="none" w="med" len="med"/>
                      <a:tailEnd type="none" w="med" len="med"/>
                    </a:lnB>
                    <a:solidFill>
                      <a:srgbClr val="FFFFFF"/>
                    </a:solidFill>
                  </a:tcPr>
                </a:tc>
                <a:tc>
                  <a:txBody>
                    <a:bodyPr/>
                    <a:lstStyle/>
                    <a:p>
                      <a:pPr fontAlgn="base"/>
                      <a:r>
                        <a:rPr lang="en-IN" sz="1400" dirty="0">
                          <a:effectLst/>
                          <a:latin typeface="Lora" pitchFamily="2" charset="0"/>
                        </a:rPr>
                        <a:t>O(m)</a:t>
                      </a:r>
                    </a:p>
                  </a:txBody>
                  <a:tcPr marL="32430" marR="32430" marT="16215" marB="16215" anchor="ctr">
                    <a:lnL w="7620" cap="flat" cmpd="sng" algn="ctr">
                      <a:solidFill>
                        <a:srgbClr val="F0DFAB"/>
                      </a:solidFill>
                      <a:prstDash val="solid"/>
                      <a:round/>
                      <a:headEnd type="none" w="med" len="med"/>
                      <a:tailEnd type="none" w="med" len="med"/>
                    </a:lnL>
                    <a:lnR w="7620" cap="flat" cmpd="sng" algn="ctr">
                      <a:solidFill>
                        <a:srgbClr val="70E4AB"/>
                      </a:solidFill>
                      <a:prstDash val="solid"/>
                      <a:round/>
                      <a:headEnd type="none" w="med" len="med"/>
                      <a:tailEnd type="none" w="med" len="med"/>
                    </a:lnR>
                    <a:lnT w="12700" cap="flat" cmpd="sng" algn="ctr">
                      <a:solidFill>
                        <a:srgbClr val="F0DFAB"/>
                      </a:solidFill>
                      <a:prstDash val="solid"/>
                      <a:round/>
                      <a:headEnd type="none" w="med" len="med"/>
                      <a:tailEnd type="none" w="med" len="med"/>
                    </a:lnT>
                    <a:lnB w="12700" cap="flat" cmpd="sng" algn="ctr">
                      <a:solidFill>
                        <a:srgbClr val="40E7AB"/>
                      </a:solidFill>
                      <a:prstDash val="solid"/>
                      <a:round/>
                      <a:headEnd type="none" w="med" len="med"/>
                      <a:tailEnd type="none" w="med" len="med"/>
                    </a:lnB>
                    <a:solidFill>
                      <a:srgbClr val="FFFFFF"/>
                    </a:solidFill>
                  </a:tcPr>
                </a:tc>
                <a:tc>
                  <a:txBody>
                    <a:bodyPr/>
                    <a:lstStyle/>
                    <a:p>
                      <a:pPr fontAlgn="base"/>
                      <a:r>
                        <a:rPr lang="en-US" sz="1400" dirty="0">
                          <a:effectLst/>
                          <a:latin typeface="Lora" pitchFamily="2" charset="0"/>
                        </a:rPr>
                        <a:t>Searches the Trie by character, taking linear time proportional to the word length.</a:t>
                      </a:r>
                    </a:p>
                  </a:txBody>
                  <a:tcPr marL="32430" marR="32430" marT="16215" marB="16215" anchor="ctr">
                    <a:lnL w="7620" cap="flat" cmpd="sng" algn="ctr">
                      <a:solidFill>
                        <a:srgbClr val="70E4AB"/>
                      </a:solidFill>
                      <a:prstDash val="solid"/>
                      <a:round/>
                      <a:headEnd type="none" w="med" len="med"/>
                      <a:tailEnd type="none" w="med" len="med"/>
                    </a:lnL>
                    <a:lnR w="7620" cap="flat" cmpd="sng" algn="ctr">
                      <a:solidFill>
                        <a:srgbClr val="70E4AB"/>
                      </a:solidFill>
                      <a:prstDash val="solid"/>
                      <a:round/>
                      <a:headEnd type="none" w="med" len="med"/>
                      <a:tailEnd type="none" w="med" len="med"/>
                    </a:lnR>
                    <a:lnT w="12700" cap="flat" cmpd="sng" algn="ctr">
                      <a:solidFill>
                        <a:srgbClr val="70E4AB"/>
                      </a:solidFill>
                      <a:prstDash val="solid"/>
                      <a:round/>
                      <a:headEnd type="none" w="med" len="med"/>
                      <a:tailEnd type="none" w="med" len="med"/>
                    </a:lnT>
                    <a:lnB w="12700" cap="flat" cmpd="sng" algn="ctr">
                      <a:solidFill>
                        <a:srgbClr val="10F0AB"/>
                      </a:solidFill>
                      <a:prstDash val="solid"/>
                      <a:round/>
                      <a:headEnd type="none" w="med" len="med"/>
                      <a:tailEnd type="none" w="med" len="med"/>
                    </a:lnB>
                    <a:solidFill>
                      <a:srgbClr val="FFFFFF"/>
                    </a:solidFill>
                  </a:tcPr>
                </a:tc>
                <a:extLst>
                  <a:ext uri="{0D108BD9-81ED-4DB2-BD59-A6C34878D82A}">
                    <a16:rowId xmlns:a16="http://schemas.microsoft.com/office/drawing/2014/main" val="2926586960"/>
                  </a:ext>
                </a:extLst>
              </a:tr>
              <a:tr h="1743701">
                <a:tc>
                  <a:txBody>
                    <a:bodyPr/>
                    <a:lstStyle/>
                    <a:p>
                      <a:pPr fontAlgn="base"/>
                      <a:r>
                        <a:rPr lang="en-IN" sz="1400" b="0" i="0" kern="1200" dirty="0">
                          <a:solidFill>
                            <a:schemeClr val="tx1"/>
                          </a:solidFill>
                          <a:effectLst/>
                          <a:latin typeface="+mn-lt"/>
                          <a:ea typeface="+mn-ea"/>
                          <a:cs typeface="+mn-cs"/>
                        </a:rPr>
                        <a:t>Prefix_Matching(word)</a:t>
                      </a:r>
                      <a:endParaRPr lang="en-IN" sz="1100" b="0" dirty="0">
                        <a:effectLst/>
                        <a:latin typeface="Lora" pitchFamily="2" charset="0"/>
                      </a:endParaRPr>
                    </a:p>
                  </a:txBody>
                  <a:tcPr marL="32430" marR="32430" marT="16215" marB="16215" anchor="ctr">
                    <a:lnL w="7620" cap="flat" cmpd="sng" algn="ctr">
                      <a:solidFill>
                        <a:srgbClr val="90D3AB"/>
                      </a:solidFill>
                      <a:prstDash val="solid"/>
                      <a:round/>
                      <a:headEnd type="none" w="med" len="med"/>
                      <a:tailEnd type="none" w="med" len="med"/>
                    </a:lnL>
                    <a:lnR w="7620" cap="flat" cmpd="sng" algn="ctr">
                      <a:solidFill>
                        <a:srgbClr val="40E7AB"/>
                      </a:solidFill>
                      <a:prstDash val="solid"/>
                      <a:round/>
                      <a:headEnd type="none" w="med" len="med"/>
                      <a:tailEnd type="none" w="med" len="med"/>
                    </a:lnR>
                    <a:lnT w="12700" cap="flat" cmpd="sng" algn="ctr">
                      <a:solidFill>
                        <a:srgbClr val="90D3AB"/>
                      </a:solidFill>
                      <a:prstDash val="solid"/>
                      <a:round/>
                      <a:headEnd type="none" w="med" len="med"/>
                      <a:tailEnd type="none" w="med" len="med"/>
                    </a:lnT>
                    <a:lnB w="12700" cap="flat" cmpd="sng" algn="ctr">
                      <a:solidFill>
                        <a:srgbClr val="70C9AB"/>
                      </a:solidFill>
                      <a:prstDash val="solid"/>
                      <a:round/>
                      <a:headEnd type="none" w="med" len="med"/>
                      <a:tailEnd type="none" w="med" len="med"/>
                    </a:lnB>
                    <a:solidFill>
                      <a:srgbClr val="FFFFFF"/>
                    </a:solidFill>
                  </a:tcPr>
                </a:tc>
                <a:tc>
                  <a:txBody>
                    <a:bodyPr/>
                    <a:lstStyle/>
                    <a:p>
                      <a:pPr fontAlgn="base"/>
                      <a:r>
                        <a:rPr lang="en-IN" sz="1400" dirty="0">
                          <a:effectLst/>
                          <a:latin typeface="Lora" pitchFamily="2" charset="0"/>
                        </a:rPr>
                        <a:t>O(m+k)</a:t>
                      </a:r>
                    </a:p>
                  </a:txBody>
                  <a:tcPr marL="32430" marR="32430" marT="16215" marB="16215" anchor="ctr">
                    <a:lnL w="7620" cap="flat" cmpd="sng" algn="ctr">
                      <a:solidFill>
                        <a:srgbClr val="40E7AB"/>
                      </a:solidFill>
                      <a:prstDash val="solid"/>
                      <a:round/>
                      <a:headEnd type="none" w="med" len="med"/>
                      <a:tailEnd type="none" w="med" len="med"/>
                    </a:lnL>
                    <a:lnR w="7620" cap="flat" cmpd="sng" algn="ctr">
                      <a:solidFill>
                        <a:srgbClr val="10F0AB"/>
                      </a:solidFill>
                      <a:prstDash val="solid"/>
                      <a:round/>
                      <a:headEnd type="none" w="med" len="med"/>
                      <a:tailEnd type="none" w="med" len="med"/>
                    </a:lnR>
                    <a:lnT w="12700" cap="flat" cmpd="sng" algn="ctr">
                      <a:solidFill>
                        <a:srgbClr val="40E7AB"/>
                      </a:solidFill>
                      <a:prstDash val="solid"/>
                      <a:round/>
                      <a:headEnd type="none" w="med" len="med"/>
                      <a:tailEnd type="none" w="med" len="med"/>
                    </a:lnT>
                    <a:lnB w="12700" cap="flat" cmpd="sng" algn="ctr">
                      <a:solidFill>
                        <a:srgbClr val="00F4AB"/>
                      </a:solidFill>
                      <a:prstDash val="solid"/>
                      <a:round/>
                      <a:headEnd type="none" w="med" len="med"/>
                      <a:tailEnd type="none" w="med" len="med"/>
                    </a:lnB>
                    <a:solidFill>
                      <a:srgbClr val="FFFFFF"/>
                    </a:solidFill>
                  </a:tcPr>
                </a:tc>
                <a:tc>
                  <a:txBody>
                    <a:bodyPr/>
                    <a:lstStyle/>
                    <a:p>
                      <a:pPr fontAlgn="base"/>
                      <a:r>
                        <a:rPr lang="en-US" sz="1400" dirty="0">
                          <a:latin typeface="Lora" pitchFamily="2" charset="0"/>
                        </a:rPr>
                        <a:t>For applications requiring prefix-based lookups or matching on large datasets, Tries scale efficiently due to their dependence on the prefix length (</a:t>
                      </a:r>
                      <a:r>
                        <a:rPr lang="en-US" sz="1400" b="1" dirty="0">
                          <a:latin typeface="Lora" pitchFamily="2" charset="0"/>
                        </a:rPr>
                        <a:t>m</a:t>
                      </a:r>
                      <a:r>
                        <a:rPr lang="en-US" sz="1400" dirty="0">
                          <a:latin typeface="Lora" pitchFamily="2" charset="0"/>
                        </a:rPr>
                        <a:t>) and number of matches (</a:t>
                      </a:r>
                      <a:r>
                        <a:rPr lang="en-US" sz="1400" b="1" dirty="0">
                          <a:latin typeface="Lora" pitchFamily="2" charset="0"/>
                        </a:rPr>
                        <a:t>k</a:t>
                      </a:r>
                      <a:r>
                        <a:rPr lang="en-US" sz="1400" dirty="0">
                          <a:latin typeface="Lora" pitchFamily="2" charset="0"/>
                        </a:rPr>
                        <a:t>), rather than the total dataset size, offering a reliable and performant solution.</a:t>
                      </a:r>
                      <a:endParaRPr lang="en-US" sz="1400" dirty="0">
                        <a:effectLst/>
                        <a:latin typeface="Lora" pitchFamily="2" charset="0"/>
                      </a:endParaRPr>
                    </a:p>
                  </a:txBody>
                  <a:tcPr marL="32430" marR="32430" marT="16215" marB="16215" anchor="ctr">
                    <a:lnL w="7620" cap="flat" cmpd="sng" algn="ctr">
                      <a:solidFill>
                        <a:srgbClr val="10F0AB"/>
                      </a:solidFill>
                      <a:prstDash val="solid"/>
                      <a:round/>
                      <a:headEnd type="none" w="med" len="med"/>
                      <a:tailEnd type="none" w="med" len="med"/>
                    </a:lnL>
                    <a:lnR w="7620" cap="flat" cmpd="sng" algn="ctr">
                      <a:solidFill>
                        <a:srgbClr val="10F0AB"/>
                      </a:solidFill>
                      <a:prstDash val="solid"/>
                      <a:round/>
                      <a:headEnd type="none" w="med" len="med"/>
                      <a:tailEnd type="none" w="med" len="med"/>
                    </a:lnR>
                    <a:lnT w="12700" cap="flat" cmpd="sng" algn="ctr">
                      <a:solidFill>
                        <a:srgbClr val="10F0AB"/>
                      </a:solidFill>
                      <a:prstDash val="solid"/>
                      <a:round/>
                      <a:headEnd type="none" w="med" len="med"/>
                      <a:tailEnd type="none" w="med" len="med"/>
                    </a:lnT>
                    <a:lnB w="12700" cap="flat" cmpd="sng" algn="ctr">
                      <a:solidFill>
                        <a:srgbClr val="70FCAB"/>
                      </a:solidFill>
                      <a:prstDash val="solid"/>
                      <a:round/>
                      <a:headEnd type="none" w="med" len="med"/>
                      <a:tailEnd type="none" w="med" len="med"/>
                    </a:lnB>
                    <a:solidFill>
                      <a:srgbClr val="FFFFFF"/>
                    </a:solidFill>
                  </a:tcPr>
                </a:tc>
                <a:extLst>
                  <a:ext uri="{0D108BD9-81ED-4DB2-BD59-A6C34878D82A}">
                    <a16:rowId xmlns:a16="http://schemas.microsoft.com/office/drawing/2014/main" val="2228811395"/>
                  </a:ext>
                </a:extLst>
              </a:tr>
              <a:tr h="1670687">
                <a:tc>
                  <a:txBody>
                    <a:bodyPr/>
                    <a:lstStyle/>
                    <a:p>
                      <a:pPr fontAlgn="base"/>
                      <a:r>
                        <a:rPr lang="en-IN" sz="1400" dirty="0">
                          <a:effectLst/>
                          <a:latin typeface="Lora" pitchFamily="2" charset="0"/>
                        </a:rPr>
                        <a:t>delete_word(word)</a:t>
                      </a:r>
                    </a:p>
                  </a:txBody>
                  <a:tcPr marL="32430" marR="32430" marT="16215" marB="16215" anchor="ctr">
                    <a:lnL w="7620" cap="flat" cmpd="sng" algn="ctr">
                      <a:solidFill>
                        <a:srgbClr val="70C9AB"/>
                      </a:solidFill>
                      <a:prstDash val="solid"/>
                      <a:round/>
                      <a:headEnd type="none" w="med" len="med"/>
                      <a:tailEnd type="none" w="med" len="med"/>
                    </a:lnL>
                    <a:lnR w="7620" cap="flat" cmpd="sng" algn="ctr">
                      <a:solidFill>
                        <a:srgbClr val="00F4AB"/>
                      </a:solidFill>
                      <a:prstDash val="solid"/>
                      <a:round/>
                      <a:headEnd type="none" w="med" len="med"/>
                      <a:tailEnd type="none" w="med" len="med"/>
                    </a:lnR>
                    <a:lnT w="12700" cap="flat" cmpd="sng" algn="ctr">
                      <a:solidFill>
                        <a:srgbClr val="70C9AB"/>
                      </a:solidFill>
                      <a:prstDash val="solid"/>
                      <a:round/>
                      <a:headEnd type="none" w="med" len="med"/>
                      <a:tailEnd type="none" w="med" len="med"/>
                    </a:lnT>
                    <a:lnB w="7620" cap="flat" cmpd="sng" algn="ctr">
                      <a:solidFill>
                        <a:srgbClr val="70C9AB"/>
                      </a:solidFill>
                      <a:prstDash val="solid"/>
                      <a:round/>
                      <a:headEnd type="none" w="med" len="med"/>
                      <a:tailEnd type="none" w="med" len="med"/>
                    </a:lnB>
                    <a:solidFill>
                      <a:srgbClr val="FFFFFF"/>
                    </a:solidFill>
                  </a:tcPr>
                </a:tc>
                <a:tc>
                  <a:txBody>
                    <a:bodyPr/>
                    <a:lstStyle/>
                    <a:p>
                      <a:pPr fontAlgn="base"/>
                      <a:r>
                        <a:rPr lang="en-IN" sz="1600" dirty="0">
                          <a:effectLst/>
                          <a:latin typeface="Lora" pitchFamily="2" charset="0"/>
                        </a:rPr>
                        <a:t>O(m)</a:t>
                      </a:r>
                    </a:p>
                  </a:txBody>
                  <a:tcPr marL="32430" marR="32430" marT="16215" marB="16215" anchor="ctr">
                    <a:lnL w="7620" cap="flat" cmpd="sng" algn="ctr">
                      <a:solidFill>
                        <a:srgbClr val="00F4AB"/>
                      </a:solidFill>
                      <a:prstDash val="solid"/>
                      <a:round/>
                      <a:headEnd type="none" w="med" len="med"/>
                      <a:tailEnd type="none" w="med" len="med"/>
                    </a:lnL>
                    <a:lnR w="7620" cap="flat" cmpd="sng" algn="ctr">
                      <a:solidFill>
                        <a:srgbClr val="70FCAB"/>
                      </a:solidFill>
                      <a:prstDash val="solid"/>
                      <a:round/>
                      <a:headEnd type="none" w="med" len="med"/>
                      <a:tailEnd type="none" w="med" len="med"/>
                    </a:lnR>
                    <a:lnT w="12700" cap="flat" cmpd="sng" algn="ctr">
                      <a:solidFill>
                        <a:srgbClr val="00F4AB"/>
                      </a:solidFill>
                      <a:prstDash val="solid"/>
                      <a:round/>
                      <a:headEnd type="none" w="med" len="med"/>
                      <a:tailEnd type="none" w="med" len="med"/>
                    </a:lnT>
                    <a:lnB w="7620" cap="flat" cmpd="sng" algn="ctr">
                      <a:solidFill>
                        <a:srgbClr val="00F4AB"/>
                      </a:solidFill>
                      <a:prstDash val="solid"/>
                      <a:round/>
                      <a:headEnd type="none" w="med" len="med"/>
                      <a:tailEnd type="none" w="med" len="med"/>
                    </a:lnB>
                    <a:solidFill>
                      <a:srgbClr val="FFFFFF"/>
                    </a:solidFill>
                  </a:tcPr>
                </a:tc>
                <a:tc>
                  <a:txBody>
                    <a:bodyPr/>
                    <a:lstStyle/>
                    <a:p>
                      <a:pPr fontAlgn="base"/>
                      <a:r>
                        <a:rPr lang="en-US" sz="1400" dirty="0">
                          <a:effectLst/>
                          <a:latin typeface="Lora" pitchFamily="2" charset="0"/>
                        </a:rPr>
                        <a:t>Traverses each character in the word to mark and unmark the nodes for deletion, so the time complexity is linear in the length of the word. Recursion deletes nodes only if they’re unnecessary, ensuring efficiency without redundant traversals</a:t>
                      </a:r>
                      <a:r>
                        <a:rPr lang="en-US" sz="600" dirty="0">
                          <a:effectLst/>
                          <a:latin typeface="Lora" pitchFamily="2" charset="0"/>
                        </a:rPr>
                        <a:t>.</a:t>
                      </a:r>
                    </a:p>
                  </a:txBody>
                  <a:tcPr marL="32430" marR="32430" marT="16215" marB="16215" anchor="ctr">
                    <a:lnL w="7620" cap="flat" cmpd="sng" algn="ctr">
                      <a:solidFill>
                        <a:srgbClr val="70FCAB"/>
                      </a:solidFill>
                      <a:prstDash val="solid"/>
                      <a:round/>
                      <a:headEnd type="none" w="med" len="med"/>
                      <a:tailEnd type="none" w="med" len="med"/>
                    </a:lnL>
                    <a:lnR w="7620" cap="flat" cmpd="sng" algn="ctr">
                      <a:solidFill>
                        <a:srgbClr val="70FCAB"/>
                      </a:solidFill>
                      <a:prstDash val="solid"/>
                      <a:round/>
                      <a:headEnd type="none" w="med" len="med"/>
                      <a:tailEnd type="none" w="med" len="med"/>
                    </a:lnR>
                    <a:lnT w="12700" cap="flat" cmpd="sng" algn="ctr">
                      <a:solidFill>
                        <a:srgbClr val="70FCAB"/>
                      </a:solidFill>
                      <a:prstDash val="solid"/>
                      <a:round/>
                      <a:headEnd type="none" w="med" len="med"/>
                      <a:tailEnd type="none" w="med" len="med"/>
                    </a:lnT>
                    <a:lnB w="7620" cap="flat" cmpd="sng" algn="ctr">
                      <a:solidFill>
                        <a:srgbClr val="70FCAB"/>
                      </a:solidFill>
                      <a:prstDash val="solid"/>
                      <a:round/>
                      <a:headEnd type="none" w="med" len="med"/>
                      <a:tailEnd type="none" w="med" len="med"/>
                    </a:lnB>
                    <a:solidFill>
                      <a:srgbClr val="FFFFFF"/>
                    </a:solidFill>
                  </a:tcPr>
                </a:tc>
                <a:extLst>
                  <a:ext uri="{0D108BD9-81ED-4DB2-BD59-A6C34878D82A}">
                    <a16:rowId xmlns:a16="http://schemas.microsoft.com/office/drawing/2014/main" val="1922979542"/>
                  </a:ext>
                </a:extLst>
              </a:tr>
            </a:tbl>
          </a:graphicData>
        </a:graphic>
      </p:graphicFrame>
    </p:spTree>
    <p:extLst>
      <p:ext uri="{BB962C8B-B14F-4D97-AF65-F5344CB8AC3E}">
        <p14:creationId xmlns:p14="http://schemas.microsoft.com/office/powerpoint/2010/main" val="3385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0ACC0-1FAA-E63C-7742-04514F81A1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1611A28-67BE-A045-5FEE-DCFD92D5C99E}"/>
              </a:ext>
            </a:extLst>
          </p:cNvPr>
          <p:cNvSpPr txBox="1"/>
          <p:nvPr/>
        </p:nvSpPr>
        <p:spPr>
          <a:xfrm>
            <a:off x="728358" y="388263"/>
            <a:ext cx="13593337" cy="584775"/>
          </a:xfrm>
          <a:prstGeom prst="rect">
            <a:avLst/>
          </a:prstGeom>
          <a:noFill/>
        </p:spPr>
        <p:txBody>
          <a:bodyPr wrap="square" rtlCol="0">
            <a:spAutoFit/>
          </a:bodyPr>
          <a:lstStyle/>
          <a:p>
            <a:r>
              <a:rPr lang="en-US" sz="3200" dirty="0">
                <a:solidFill>
                  <a:srgbClr val="233E32"/>
                </a:solidFill>
                <a:latin typeface="Alice" pitchFamily="34" charset="0"/>
                <a:ea typeface="Alice" pitchFamily="34" charset="-122"/>
                <a:cs typeface="Alice" pitchFamily="34" charset="-120"/>
              </a:rPr>
              <a:t>AUTO COMPLETE:</a:t>
            </a:r>
            <a:endParaRPr lang="en-IN" dirty="0"/>
          </a:p>
        </p:txBody>
      </p:sp>
      <p:sp>
        <p:nvSpPr>
          <p:cNvPr id="29" name="TextBox 28">
            <a:extLst>
              <a:ext uri="{FF2B5EF4-FFF2-40B4-BE49-F238E27FC236}">
                <a16:creationId xmlns:a16="http://schemas.microsoft.com/office/drawing/2014/main" id="{9A470558-9F21-1EE5-EFD6-0A6993B94F0D}"/>
              </a:ext>
            </a:extLst>
          </p:cNvPr>
          <p:cNvSpPr txBox="1"/>
          <p:nvPr/>
        </p:nvSpPr>
        <p:spPr>
          <a:xfrm>
            <a:off x="635149" y="1169045"/>
            <a:ext cx="13427480" cy="6771084"/>
          </a:xfrm>
          <a:prstGeom prst="rect">
            <a:avLst/>
          </a:prstGeom>
          <a:noFill/>
        </p:spPr>
        <p:txBody>
          <a:bodyPr wrap="square" rtlCol="0">
            <a:spAutoFit/>
          </a:bodyPr>
          <a:lstStyle/>
          <a:p>
            <a:r>
              <a:rPr lang="en-US" dirty="0">
                <a:latin typeface="Lora" pitchFamily="2" charset="0"/>
              </a:rPr>
              <a:t>Autocomplete is a feature that suggests possible completions for a partially typed word or phrase. When a user begins typing, autocomplete generates a list of words or phrases that match the typed characters (or prefix), saving the user time by allowing them to select from a list of potential completions rather than typing the entire word or phrase.</a:t>
            </a:r>
          </a:p>
          <a:p>
            <a:endParaRPr lang="en-US" dirty="0">
              <a:latin typeface="Lora" pitchFamily="2" charset="0"/>
            </a:endParaRPr>
          </a:p>
          <a:p>
            <a:r>
              <a:rPr lang="en-US" dirty="0">
                <a:latin typeface="Lora" pitchFamily="2" charset="0"/>
              </a:rPr>
              <a:t>Autocomplete is widely used in various applications to improve user experience and efficiency. Here are some common places where autocomplete is implemented:</a:t>
            </a:r>
          </a:p>
          <a:p>
            <a:endParaRPr lang="en-US" dirty="0">
              <a:latin typeface="Lora" pitchFamily="2" charset="0"/>
            </a:endParaRPr>
          </a:p>
          <a:p>
            <a:endParaRPr lang="en-US" dirty="0">
              <a:latin typeface="Lora" pitchFamily="2" charset="0"/>
            </a:endParaRPr>
          </a:p>
          <a:p>
            <a:endParaRPr lang="en-US" b="1" dirty="0">
              <a:latin typeface="Lora" pitchFamily="2" charset="0"/>
            </a:endParaRPr>
          </a:p>
          <a:p>
            <a:r>
              <a:rPr lang="en-US" b="1" dirty="0">
                <a:latin typeface="Lora" pitchFamily="2" charset="0"/>
              </a:rPr>
              <a:t>DATA STRUCTURE USED:</a:t>
            </a:r>
          </a:p>
          <a:p>
            <a:r>
              <a:rPr lang="en-US" dirty="0">
                <a:latin typeface="Lora" pitchFamily="2" charset="0"/>
              </a:rPr>
              <a:t>              Standard  Trie</a:t>
            </a:r>
          </a:p>
          <a:p>
            <a:endParaRPr lang="en-US" dirty="0">
              <a:latin typeface="Lora" pitchFamily="2" charset="0"/>
            </a:endParaRPr>
          </a:p>
          <a:p>
            <a:r>
              <a:rPr lang="en-US" b="1" dirty="0">
                <a:latin typeface="Lora" pitchFamily="2" charset="0"/>
              </a:rPr>
              <a:t>TIME COMPLEXITY &amp; JUSTIFICATION:</a:t>
            </a:r>
            <a:endParaRPr lang="en-US" dirty="0">
              <a:latin typeface="Lora" pitchFamily="2" charset="0"/>
            </a:endParaRPr>
          </a:p>
          <a:p>
            <a:r>
              <a:rPr lang="en-US" b="1" dirty="0">
                <a:latin typeface="Lora" pitchFamily="2" charset="0"/>
              </a:rPr>
              <a:t>O(p)</a:t>
            </a:r>
            <a:r>
              <a:rPr lang="en-US" dirty="0">
                <a:latin typeface="Lora" pitchFamily="2" charset="0"/>
              </a:rPr>
              <a:t>: The first part of the process involves finding the node corresponding to the last character of the given prefix. This              requires a traversal of </a:t>
            </a:r>
            <a:r>
              <a:rPr lang="en-US" b="1" dirty="0">
                <a:latin typeface="Lora" pitchFamily="2" charset="0"/>
              </a:rPr>
              <a:t>p</a:t>
            </a:r>
            <a:r>
              <a:rPr lang="en-US" dirty="0">
                <a:latin typeface="Lora" pitchFamily="2" charset="0"/>
              </a:rPr>
              <a:t> nodes in the Trie (one for each character in the prefix), so this step is </a:t>
            </a:r>
            <a:r>
              <a:rPr lang="en-US" b="1" dirty="0">
                <a:latin typeface="Lora" pitchFamily="2" charset="0"/>
              </a:rPr>
              <a:t>O(p)</a:t>
            </a:r>
            <a:r>
              <a:rPr lang="en-US" dirty="0">
                <a:latin typeface="Lora" pitchFamily="2" charset="0"/>
              </a:rPr>
              <a:t>.</a:t>
            </a:r>
          </a:p>
          <a:p>
            <a:endParaRPr lang="en-US" dirty="0">
              <a:latin typeface="Lora" pitchFamily="2" charset="0"/>
            </a:endParaRPr>
          </a:p>
          <a:p>
            <a:r>
              <a:rPr lang="en-US" b="1" dirty="0">
                <a:latin typeface="Lora" pitchFamily="2" charset="0"/>
              </a:rPr>
              <a:t>O(k)</a:t>
            </a:r>
            <a:r>
              <a:rPr lang="en-US" dirty="0">
                <a:latin typeface="Lora" pitchFamily="2" charset="0"/>
              </a:rPr>
              <a:t>: Once the prefix node is found, the Trie performs a depth-first (or breadth-first) search starting from this node to retrieve all possible words that share the prefix. This part of the complexity is </a:t>
            </a:r>
            <a:r>
              <a:rPr lang="en-US" b="1" dirty="0">
                <a:latin typeface="Lora" pitchFamily="2" charset="0"/>
              </a:rPr>
              <a:t>O(k)</a:t>
            </a:r>
            <a:r>
              <a:rPr lang="en-US" dirty="0">
                <a:latin typeface="Lora" pitchFamily="2" charset="0"/>
              </a:rPr>
              <a:t>, where </a:t>
            </a:r>
            <a:r>
              <a:rPr lang="en-US" b="1" dirty="0">
                <a:latin typeface="Lora" pitchFamily="2" charset="0"/>
              </a:rPr>
              <a:t>k</a:t>
            </a:r>
            <a:r>
              <a:rPr lang="en-US" dirty="0">
                <a:latin typeface="Lora" pitchFamily="2" charset="0"/>
              </a:rPr>
              <a:t> is the number of valid words found under the prefix node.</a:t>
            </a:r>
          </a:p>
          <a:p>
            <a:endParaRPr lang="en-US" dirty="0">
              <a:latin typeface="Lora" pitchFamily="2" charset="0"/>
            </a:endParaRPr>
          </a:p>
          <a:p>
            <a:r>
              <a:rPr lang="en-US" b="1" dirty="0">
                <a:latin typeface="Lora" pitchFamily="2" charset="0"/>
              </a:rPr>
              <a:t>Overall Complexity</a:t>
            </a:r>
            <a:r>
              <a:rPr lang="en-US" dirty="0">
                <a:latin typeface="Lora" pitchFamily="2" charset="0"/>
              </a:rPr>
              <a:t>: Combining these, the total complexity is </a:t>
            </a:r>
            <a:r>
              <a:rPr lang="en-US" b="1" dirty="0">
                <a:latin typeface="Lora" pitchFamily="2" charset="0"/>
              </a:rPr>
              <a:t>O(p + k)</a:t>
            </a:r>
            <a:r>
              <a:rPr lang="en-US" dirty="0">
                <a:latin typeface="Lora" pitchFamily="2" charset="0"/>
              </a:rPr>
              <a:t>, where </a:t>
            </a:r>
            <a:r>
              <a:rPr lang="en-US" b="1" dirty="0">
                <a:latin typeface="Lora" pitchFamily="2" charset="0"/>
              </a:rPr>
              <a:t>p</a:t>
            </a:r>
            <a:r>
              <a:rPr lang="en-US" dirty="0">
                <a:latin typeface="Lora" pitchFamily="2" charset="0"/>
              </a:rPr>
              <a:t> is the time to locate the prefix node, and </a:t>
            </a:r>
            <a:r>
              <a:rPr lang="en-US" b="1" dirty="0">
                <a:latin typeface="Lora" pitchFamily="2" charset="0"/>
              </a:rPr>
              <a:t>k</a:t>
            </a:r>
            <a:r>
              <a:rPr lang="en-US" dirty="0">
                <a:latin typeface="Lora" pitchFamily="2" charset="0"/>
              </a:rPr>
              <a:t> is the time to retrieve and list all matching words.</a:t>
            </a:r>
          </a:p>
          <a:p>
            <a:endParaRPr lang="en-US" sz="2000" dirty="0">
              <a:latin typeface="Lora" pitchFamily="2" charset="0"/>
            </a:endParaRPr>
          </a:p>
          <a:p>
            <a:endParaRPr lang="en-IN" dirty="0"/>
          </a:p>
        </p:txBody>
      </p:sp>
      <p:sp>
        <p:nvSpPr>
          <p:cNvPr id="33" name="Rectangle 17">
            <a:extLst>
              <a:ext uri="{FF2B5EF4-FFF2-40B4-BE49-F238E27FC236}">
                <a16:creationId xmlns:a16="http://schemas.microsoft.com/office/drawing/2014/main" id="{C33B5522-77A5-2AEC-84E9-535FBB1F6F61}"/>
              </a:ext>
            </a:extLst>
          </p:cNvPr>
          <p:cNvSpPr>
            <a:spLocks noChangeArrowheads="1"/>
          </p:cNvSpPr>
          <p:nvPr/>
        </p:nvSpPr>
        <p:spPr bwMode="auto">
          <a:xfrm>
            <a:off x="937549" y="3000221"/>
            <a:ext cx="97049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Lora" pitchFamily="2" charset="0"/>
              </a:rPr>
              <a:t>&gt; Search Engines,Messaging and Text Input,Coding and Development Environments</a:t>
            </a:r>
            <a:r>
              <a:rPr lang="en-US" altLang="en-US" dirty="0">
                <a:latin typeface="Lora" pitchFamily="2" charset="0"/>
              </a:rPr>
              <a:t>,etc…</a:t>
            </a:r>
          </a:p>
        </p:txBody>
      </p:sp>
    </p:spTree>
    <p:extLst>
      <p:ext uri="{BB962C8B-B14F-4D97-AF65-F5344CB8AC3E}">
        <p14:creationId xmlns:p14="http://schemas.microsoft.com/office/powerpoint/2010/main" val="3933245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DAB77-82A0-6361-6374-E46424AF2A7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17A244-EB21-F54E-38C2-BCB4B5869E23}"/>
              </a:ext>
            </a:extLst>
          </p:cNvPr>
          <p:cNvSpPr txBox="1"/>
          <p:nvPr/>
        </p:nvSpPr>
        <p:spPr>
          <a:xfrm>
            <a:off x="728358" y="388263"/>
            <a:ext cx="13593337" cy="584775"/>
          </a:xfrm>
          <a:prstGeom prst="rect">
            <a:avLst/>
          </a:prstGeom>
          <a:noFill/>
        </p:spPr>
        <p:txBody>
          <a:bodyPr wrap="square" rtlCol="0">
            <a:spAutoFit/>
          </a:bodyPr>
          <a:lstStyle/>
          <a:p>
            <a:r>
              <a:rPr lang="en-US" sz="3200" dirty="0">
                <a:solidFill>
                  <a:srgbClr val="233E32"/>
                </a:solidFill>
                <a:latin typeface="Alice" pitchFamily="34" charset="0"/>
                <a:ea typeface="Alice" pitchFamily="34" charset="-122"/>
                <a:cs typeface="Alice" pitchFamily="34" charset="-120"/>
              </a:rPr>
              <a:t>URL MATCHING:</a:t>
            </a:r>
            <a:endParaRPr lang="en-IN" dirty="0"/>
          </a:p>
        </p:txBody>
      </p:sp>
      <p:sp>
        <p:nvSpPr>
          <p:cNvPr id="29" name="TextBox 28">
            <a:extLst>
              <a:ext uri="{FF2B5EF4-FFF2-40B4-BE49-F238E27FC236}">
                <a16:creationId xmlns:a16="http://schemas.microsoft.com/office/drawing/2014/main" id="{D2AF9DC1-89EE-552A-F489-7FFB78656DC4}"/>
              </a:ext>
            </a:extLst>
          </p:cNvPr>
          <p:cNvSpPr txBox="1"/>
          <p:nvPr/>
        </p:nvSpPr>
        <p:spPr>
          <a:xfrm>
            <a:off x="635149" y="1169045"/>
            <a:ext cx="13427480" cy="7417415"/>
          </a:xfrm>
          <a:prstGeom prst="rect">
            <a:avLst/>
          </a:prstGeom>
          <a:noFill/>
        </p:spPr>
        <p:txBody>
          <a:bodyPr wrap="square" rtlCol="0">
            <a:spAutoFit/>
          </a:bodyPr>
          <a:lstStyle/>
          <a:p>
            <a:r>
              <a:rPr lang="en-US" sz="2000" dirty="0">
                <a:latin typeface="Lora" pitchFamily="2" charset="0"/>
              </a:rPr>
              <a:t>URL matching is the process of checking whether a given URL matches a specific pattern or is part of a set of stored URLs. This is commonly used in web applications, security filtering, and routing to efficiently match incoming URLs against a list of known URLs or URL patterns.</a:t>
            </a:r>
          </a:p>
          <a:p>
            <a:endParaRPr lang="en-US" sz="2000" dirty="0">
              <a:latin typeface="Lora" pitchFamily="2" charset="0"/>
            </a:endParaRPr>
          </a:p>
          <a:p>
            <a:r>
              <a:rPr lang="en-US" b="1" dirty="0">
                <a:latin typeface="Lora" pitchFamily="2" charset="0"/>
              </a:rPr>
              <a:t>Use Cases:</a:t>
            </a:r>
            <a:endParaRPr lang="en-US" dirty="0">
              <a:latin typeface="Lora" pitchFamily="2" charset="0"/>
            </a:endParaRPr>
          </a:p>
          <a:p>
            <a:r>
              <a:rPr lang="en-US" dirty="0">
                <a:latin typeface="Lora" pitchFamily="2" charset="0"/>
              </a:rPr>
              <a:t>                 Web Application Routing,Security Filtering,Logging and Analytics</a:t>
            </a:r>
          </a:p>
          <a:p>
            <a:endParaRPr lang="en-US" dirty="0">
              <a:latin typeface="Lora" pitchFamily="2" charset="0"/>
            </a:endParaRPr>
          </a:p>
          <a:p>
            <a:r>
              <a:rPr lang="en-US" b="1" dirty="0">
                <a:latin typeface="Lora" pitchFamily="2" charset="0"/>
              </a:rPr>
              <a:t>DATA STRUCTURE USED:</a:t>
            </a:r>
          </a:p>
          <a:p>
            <a:r>
              <a:rPr lang="en-US" dirty="0">
                <a:latin typeface="Lora" pitchFamily="2" charset="0"/>
              </a:rPr>
              <a:t>              Standard  Trie</a:t>
            </a:r>
          </a:p>
          <a:p>
            <a:endParaRPr lang="en-US" dirty="0">
              <a:latin typeface="Lora" pitchFamily="2" charset="0"/>
            </a:endParaRPr>
          </a:p>
          <a:p>
            <a:r>
              <a:rPr lang="en-US" b="1" dirty="0">
                <a:latin typeface="Lora" pitchFamily="2" charset="0"/>
              </a:rPr>
              <a:t>TIME COMPLEXITY &amp; JUSTIFICATION:</a:t>
            </a:r>
          </a:p>
          <a:p>
            <a:endParaRPr lang="en-US" b="1" dirty="0">
              <a:latin typeface="Lora" pitchFamily="2" charset="0"/>
            </a:endParaRPr>
          </a:p>
          <a:p>
            <a:r>
              <a:rPr lang="en-US" b="1" dirty="0">
                <a:latin typeface="Lora" pitchFamily="2" charset="0"/>
              </a:rPr>
              <a:t>Finding the Node for the Last Character of the URL:</a:t>
            </a:r>
            <a:endParaRPr lang="en-US" dirty="0">
              <a:latin typeface="Lora" pitchFamily="2" charset="0"/>
            </a:endParaRPr>
          </a:p>
          <a:p>
            <a:pPr lvl="1"/>
            <a:r>
              <a:rPr lang="en-US" dirty="0">
                <a:latin typeface="Lora" pitchFamily="2" charset="0"/>
              </a:rPr>
              <a:t>This involves traversing the Trie to locate the node corresponding to the last character of the given URL or prefix.</a:t>
            </a:r>
          </a:p>
          <a:p>
            <a:pPr lvl="1"/>
            <a:r>
              <a:rPr lang="en-US" b="1" dirty="0">
                <a:latin typeface="Lora" pitchFamily="2" charset="0"/>
              </a:rPr>
              <a:t>Time Complexity:</a:t>
            </a:r>
            <a:r>
              <a:rPr lang="en-US" dirty="0">
                <a:latin typeface="Lora" pitchFamily="2" charset="0"/>
              </a:rPr>
              <a:t> O(u), where </a:t>
            </a:r>
            <a:r>
              <a:rPr lang="en-US" b="1" dirty="0">
                <a:latin typeface="Lora" pitchFamily="2" charset="0"/>
              </a:rPr>
              <a:t>u</a:t>
            </a:r>
            <a:r>
              <a:rPr lang="en-US" dirty="0">
                <a:latin typeface="Lora" pitchFamily="2" charset="0"/>
              </a:rPr>
              <a:t> is the number of characters in the URL.</a:t>
            </a:r>
          </a:p>
          <a:p>
            <a:r>
              <a:rPr lang="en-US" b="1" dirty="0">
                <a:latin typeface="Lora" pitchFamily="2" charset="0"/>
              </a:rPr>
              <a:t>Searching for Complete Matches or Valid Paths:</a:t>
            </a:r>
            <a:endParaRPr lang="en-US" dirty="0">
              <a:latin typeface="Lora" pitchFamily="2" charset="0"/>
            </a:endParaRPr>
          </a:p>
          <a:p>
            <a:pPr lvl="1"/>
            <a:r>
              <a:rPr lang="en-US" dirty="0">
                <a:latin typeface="Lora" pitchFamily="2" charset="0"/>
              </a:rPr>
              <a:t>After reaching the appropriate node, we can check if it's marked as a complete URL. To find all valid URLs matching a given prefix, we perform a depth-first or breadth-first search from this node.</a:t>
            </a:r>
          </a:p>
          <a:p>
            <a:pPr lvl="1"/>
            <a:r>
              <a:rPr lang="en-US" b="1" dirty="0">
                <a:latin typeface="Lora" pitchFamily="2" charset="0"/>
              </a:rPr>
              <a:t>Time Complexity:</a:t>
            </a:r>
            <a:r>
              <a:rPr lang="en-US" dirty="0">
                <a:latin typeface="Lora" pitchFamily="2" charset="0"/>
              </a:rPr>
              <a:t> O(k), where </a:t>
            </a:r>
            <a:r>
              <a:rPr lang="en-US" b="1" dirty="0">
                <a:latin typeface="Lora" pitchFamily="2" charset="0"/>
              </a:rPr>
              <a:t>k</a:t>
            </a:r>
            <a:r>
              <a:rPr lang="en-US" dirty="0">
                <a:latin typeface="Lora" pitchFamily="2" charset="0"/>
              </a:rPr>
              <a:t> is the number of valid URLs found under the matched node.</a:t>
            </a:r>
          </a:p>
          <a:p>
            <a:r>
              <a:rPr lang="en-US" b="1" dirty="0">
                <a:latin typeface="Lora" pitchFamily="2" charset="0"/>
              </a:rPr>
              <a:t>Overall Complexity:</a:t>
            </a:r>
          </a:p>
          <a:p>
            <a:r>
              <a:rPr lang="en-US" dirty="0">
                <a:latin typeface="Lora" pitchFamily="2" charset="0"/>
              </a:rPr>
              <a:t>Combining both steps, the total time complexity for URL matching is </a:t>
            </a:r>
            <a:r>
              <a:rPr lang="en-US" b="1" dirty="0">
                <a:latin typeface="Lora" pitchFamily="2" charset="0"/>
              </a:rPr>
              <a:t>O(u + k)</a:t>
            </a:r>
            <a:r>
              <a:rPr lang="en-US" dirty="0">
                <a:latin typeface="Lora" pitchFamily="2" charset="0"/>
              </a:rPr>
              <a:t>, where:</a:t>
            </a:r>
          </a:p>
          <a:p>
            <a:pPr>
              <a:buFont typeface="Arial" panose="020B0604020202020204" pitchFamily="34" charset="0"/>
              <a:buChar char="•"/>
            </a:pPr>
            <a:r>
              <a:rPr lang="en-US" b="1" dirty="0">
                <a:latin typeface="Lora" pitchFamily="2" charset="0"/>
              </a:rPr>
              <a:t>u</a:t>
            </a:r>
            <a:r>
              <a:rPr lang="en-US" dirty="0">
                <a:latin typeface="Lora" pitchFamily="2" charset="0"/>
              </a:rPr>
              <a:t> is the number of characters in the URL (or prefix).</a:t>
            </a:r>
          </a:p>
          <a:p>
            <a:pPr>
              <a:buFont typeface="Arial" panose="020B0604020202020204" pitchFamily="34" charset="0"/>
              <a:buChar char="•"/>
            </a:pPr>
            <a:r>
              <a:rPr lang="en-US" b="1" dirty="0">
                <a:latin typeface="Lora" pitchFamily="2" charset="0"/>
              </a:rPr>
              <a:t>k</a:t>
            </a:r>
            <a:r>
              <a:rPr lang="en-US" dirty="0">
                <a:latin typeface="Lora" pitchFamily="2" charset="0"/>
              </a:rPr>
              <a:t> is the number of valid URLs retrieved that match the given prefix.</a:t>
            </a:r>
          </a:p>
          <a:p>
            <a:endParaRPr lang="en-US" dirty="0">
              <a:latin typeface="Lora" pitchFamily="2" charset="0"/>
            </a:endParaRPr>
          </a:p>
          <a:p>
            <a:endParaRPr lang="en-US" dirty="0">
              <a:latin typeface="Lora" pitchFamily="2" charset="0"/>
            </a:endParaRPr>
          </a:p>
          <a:p>
            <a:endParaRPr lang="en-IN" dirty="0">
              <a:latin typeface="Lora" pitchFamily="2" charset="0"/>
            </a:endParaRPr>
          </a:p>
        </p:txBody>
      </p:sp>
    </p:spTree>
    <p:extLst>
      <p:ext uri="{BB962C8B-B14F-4D97-AF65-F5344CB8AC3E}">
        <p14:creationId xmlns:p14="http://schemas.microsoft.com/office/powerpoint/2010/main" val="3285329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BD99F-6CD7-86FC-50C9-EAC9E3F6ED7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91F2BFD-46D1-1BA0-E27E-164DAAF61C2E}"/>
              </a:ext>
            </a:extLst>
          </p:cNvPr>
          <p:cNvSpPr txBox="1"/>
          <p:nvPr/>
        </p:nvSpPr>
        <p:spPr>
          <a:xfrm>
            <a:off x="728358" y="388263"/>
            <a:ext cx="13593337" cy="584775"/>
          </a:xfrm>
          <a:prstGeom prst="rect">
            <a:avLst/>
          </a:prstGeom>
          <a:noFill/>
        </p:spPr>
        <p:txBody>
          <a:bodyPr wrap="square" rtlCol="0">
            <a:spAutoFit/>
          </a:bodyPr>
          <a:lstStyle/>
          <a:p>
            <a:r>
              <a:rPr lang="en-US" sz="3200" dirty="0">
                <a:solidFill>
                  <a:srgbClr val="233E32"/>
                </a:solidFill>
                <a:latin typeface="Alice" pitchFamily="34" charset="0"/>
                <a:ea typeface="Alice" pitchFamily="34" charset="-122"/>
                <a:cs typeface="Alice" pitchFamily="34" charset="-120"/>
              </a:rPr>
              <a:t>IP ROUTING:</a:t>
            </a:r>
            <a:endParaRPr lang="en-IN" dirty="0"/>
          </a:p>
        </p:txBody>
      </p:sp>
      <p:sp>
        <p:nvSpPr>
          <p:cNvPr id="29" name="TextBox 28">
            <a:extLst>
              <a:ext uri="{FF2B5EF4-FFF2-40B4-BE49-F238E27FC236}">
                <a16:creationId xmlns:a16="http://schemas.microsoft.com/office/drawing/2014/main" id="{BB7980B7-E820-4F5F-A5C1-1EBA9246081B}"/>
              </a:ext>
            </a:extLst>
          </p:cNvPr>
          <p:cNvSpPr txBox="1"/>
          <p:nvPr/>
        </p:nvSpPr>
        <p:spPr>
          <a:xfrm>
            <a:off x="635149" y="1169045"/>
            <a:ext cx="13427480" cy="7602081"/>
          </a:xfrm>
          <a:prstGeom prst="rect">
            <a:avLst/>
          </a:prstGeom>
          <a:noFill/>
        </p:spPr>
        <p:txBody>
          <a:bodyPr wrap="square" rtlCol="0">
            <a:spAutoFit/>
          </a:bodyPr>
          <a:lstStyle/>
          <a:p>
            <a:r>
              <a:rPr lang="en-US" dirty="0">
                <a:latin typeface="Lora" pitchFamily="2" charset="0"/>
              </a:rPr>
              <a:t>IP routing is the process of determining the path for data packets to travel across networks from the source to the destination based on their IP addresses. This functionality is essential for the efficient operation of computer networks, allowing devices to communicate with each other over the internet or local networks.</a:t>
            </a:r>
          </a:p>
          <a:p>
            <a:endParaRPr lang="en-US" dirty="0">
              <a:latin typeface="Lora" pitchFamily="2" charset="0"/>
            </a:endParaRPr>
          </a:p>
          <a:p>
            <a:r>
              <a:rPr lang="en-US" b="1" dirty="0"/>
              <a:t>Use Cases for IP Routing:</a:t>
            </a:r>
          </a:p>
          <a:p>
            <a:r>
              <a:rPr lang="en-US" dirty="0"/>
              <a:t>Internet Service Providers (ISPs),Enterprise Netorks,Data Centers,Virtual Private Networks (VPNs),Content Delivery Networks (CDNs)</a:t>
            </a:r>
          </a:p>
          <a:p>
            <a:endParaRPr lang="en-US" dirty="0">
              <a:latin typeface="Lora" pitchFamily="2" charset="0"/>
            </a:endParaRPr>
          </a:p>
          <a:p>
            <a:r>
              <a:rPr lang="en-US" b="1" dirty="0">
                <a:latin typeface="Lora" pitchFamily="2" charset="0"/>
              </a:rPr>
              <a:t>DATA STRUCTURE USED:</a:t>
            </a:r>
          </a:p>
          <a:p>
            <a:pPr>
              <a:buFont typeface="Arial" panose="020B0604020202020204" pitchFamily="34" charset="0"/>
              <a:buChar char="•"/>
            </a:pPr>
            <a:r>
              <a:rPr lang="en-US" dirty="0">
                <a:latin typeface="Lora" pitchFamily="2" charset="0"/>
              </a:rPr>
              <a:t>Binary tries</a:t>
            </a:r>
          </a:p>
          <a:p>
            <a:endParaRPr lang="en-US" dirty="0">
              <a:latin typeface="Lora" pitchFamily="2" charset="0"/>
            </a:endParaRPr>
          </a:p>
          <a:p>
            <a:r>
              <a:rPr lang="en-US" b="1" dirty="0">
                <a:latin typeface="Lora" pitchFamily="2" charset="0"/>
              </a:rPr>
              <a:t>TIME COMPLEXITY &amp; JUSTIFICATION:</a:t>
            </a:r>
          </a:p>
          <a:p>
            <a:r>
              <a:rPr lang="en-US" b="1" dirty="0">
                <a:latin typeface="Lora" pitchFamily="2" charset="0"/>
              </a:rPr>
              <a:t>Finding the Node for the Last Character of the IP Address:</a:t>
            </a:r>
            <a:endParaRPr lang="en-US" dirty="0">
              <a:latin typeface="Lora" pitchFamily="2" charset="0"/>
            </a:endParaRPr>
          </a:p>
          <a:p>
            <a:pPr lvl="1"/>
            <a:r>
              <a:rPr lang="en-US" dirty="0">
                <a:latin typeface="Lora" pitchFamily="2" charset="0"/>
              </a:rPr>
              <a:t>This step involves traversing the Trie to locate the node corresponding to the last character of the given IP address or its prefix. Each bit in the binary representation of the IP address represents a segment.</a:t>
            </a:r>
          </a:p>
          <a:p>
            <a:pPr lvl="1"/>
            <a:r>
              <a:rPr lang="en-US" b="1" dirty="0">
                <a:latin typeface="Lora" pitchFamily="2" charset="0"/>
              </a:rPr>
              <a:t>Time Complexity:</a:t>
            </a:r>
            <a:r>
              <a:rPr lang="en-US" dirty="0">
                <a:latin typeface="Lora" pitchFamily="2" charset="0"/>
              </a:rPr>
              <a:t> O(b), where b is the number of bits in the IP address (for IPv4, b=32).</a:t>
            </a:r>
          </a:p>
          <a:p>
            <a:r>
              <a:rPr lang="en-US" b="1" dirty="0">
                <a:latin typeface="Lora" pitchFamily="2" charset="0"/>
              </a:rPr>
              <a:t>Searching for Complete Matches or Valid Paths:</a:t>
            </a:r>
            <a:endParaRPr lang="en-US" dirty="0">
              <a:latin typeface="Lora" pitchFamily="2" charset="0"/>
            </a:endParaRPr>
          </a:p>
          <a:p>
            <a:pPr lvl="1"/>
            <a:r>
              <a:rPr lang="en-US" dirty="0">
                <a:latin typeface="Lora" pitchFamily="2" charset="0"/>
              </a:rPr>
              <a:t>After finding the node for the last bit, we can check if that node is marked as a complete IP address or continue to search for valid paths that represent complete IPs under that node.</a:t>
            </a:r>
          </a:p>
          <a:p>
            <a:pPr lvl="1"/>
            <a:r>
              <a:rPr lang="en-US" dirty="0">
                <a:latin typeface="Lora" pitchFamily="2" charset="0"/>
              </a:rPr>
              <a:t>If a complete match is found, we return that IP. If we need to retrieve all possible IPs (or patterns) that match a given prefix, we perform a depth-first (or breadth-first) search starting from the found node.</a:t>
            </a:r>
          </a:p>
          <a:p>
            <a:pPr lvl="1"/>
            <a:r>
              <a:rPr lang="en-US" b="1" dirty="0">
                <a:latin typeface="Lora" pitchFamily="2" charset="0"/>
              </a:rPr>
              <a:t>Time Complexity:</a:t>
            </a:r>
            <a:r>
              <a:rPr lang="en-US" dirty="0">
                <a:latin typeface="Lora" pitchFamily="2" charset="0"/>
              </a:rPr>
              <a:t> O(k), where k is the number of valid IP addresses found under the matched node.</a:t>
            </a:r>
          </a:p>
          <a:p>
            <a:r>
              <a:rPr lang="en-US" b="1" dirty="0">
                <a:latin typeface="Lora" pitchFamily="2" charset="0"/>
              </a:rPr>
              <a:t>Overall Complexity:</a:t>
            </a:r>
          </a:p>
          <a:p>
            <a:r>
              <a:rPr lang="en-US" dirty="0">
                <a:latin typeface="Lora" pitchFamily="2" charset="0"/>
              </a:rPr>
              <a:t>Combining both steps, the total time complexity for IP routing is:</a:t>
            </a:r>
          </a:p>
          <a:p>
            <a:pPr>
              <a:buFont typeface="Arial" panose="020B0604020202020204" pitchFamily="34" charset="0"/>
              <a:buChar char="•"/>
            </a:pPr>
            <a:r>
              <a:rPr lang="en-US" b="1" dirty="0">
                <a:latin typeface="Lora" pitchFamily="2" charset="0"/>
              </a:rPr>
              <a:t>O(b + k)</a:t>
            </a:r>
            <a:endParaRPr lang="en-US" dirty="0">
              <a:latin typeface="Lora" pitchFamily="2" charset="0"/>
            </a:endParaRPr>
          </a:p>
          <a:p>
            <a:endParaRPr lang="en-US" sz="2000" dirty="0">
              <a:latin typeface="Lora" pitchFamily="2" charset="0"/>
            </a:endParaRPr>
          </a:p>
          <a:p>
            <a:endParaRPr lang="en-IN" dirty="0"/>
          </a:p>
        </p:txBody>
      </p:sp>
    </p:spTree>
    <p:extLst>
      <p:ext uri="{BB962C8B-B14F-4D97-AF65-F5344CB8AC3E}">
        <p14:creationId xmlns:p14="http://schemas.microsoft.com/office/powerpoint/2010/main" val="1570708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394</TotalTime>
  <Words>1516</Words>
  <Application>Microsoft Office PowerPoint</Application>
  <PresentationFormat>Custom</PresentationFormat>
  <Paragraphs>195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Alice</vt:lpstr>
      <vt:lpstr>Lora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NISHANTH KONCHADA</cp:lastModifiedBy>
  <cp:revision>20</cp:revision>
  <dcterms:created xsi:type="dcterms:W3CDTF">2024-10-22T09:14:42Z</dcterms:created>
  <dcterms:modified xsi:type="dcterms:W3CDTF">2025-12-02T12:10:29Z</dcterms:modified>
</cp:coreProperties>
</file>